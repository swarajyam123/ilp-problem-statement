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A5E567-6E42-CC29-F339-D46E322259CE}" v="93" dt="2026-08-31T05:59:12.912"/>
    <p1510:client id="{A9969B72-26E7-08F6-B058-C1F5133799B7}" v="60" dt="2026-08-31T05:41:35.209"/>
    <p1510:client id="{F87CE46C-9ED4-284C-1493-45BAF9CEF7F6}" v="8" dt="2026-08-31T02:53:58.7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CS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BB034"/>
          </a:solidFill>
          <a:ln w="12700">
            <a:solidFill>
              <a:srgbClr val="FBB0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1052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666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TCS confidential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11064240" y="642823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4E8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</a:t>
            </a:r>
            <a:endParaRPr lang="en-US" sz="18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BB034"/>
          </a:solidFill>
          <a:ln w="12700">
            <a:solidFill>
              <a:srgbClr val="FBB0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1024128"/>
            <a:ext cx="5669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</a:rPr>
              <a:t>From Requirements</a:t>
            </a:r>
            <a:endParaRPr lang="en-US" sz="3600"/>
          </a:p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</a:rPr>
              <a:t>to Verified Software</a:t>
            </a:r>
            <a:endParaRPr lang="en-US" sz="3600"/>
          </a:p>
        </p:txBody>
      </p:sp>
      <p:sp>
        <p:nvSpPr>
          <p:cNvPr id="4" name="Text 2"/>
          <p:cNvSpPr/>
          <p:nvPr/>
        </p:nvSpPr>
        <p:spPr>
          <a:xfrm>
            <a:off x="685800" y="2697480"/>
            <a:ext cx="53035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DDE8F6"/>
                </a:solidFill>
              </a:rPr>
              <a:t>A formal verification pipeline for ambiguity, consistency and conflict detection across SDLC documents</a:t>
            </a:r>
            <a:endParaRPr lang="en-US" sz="1800"/>
          </a:p>
        </p:txBody>
      </p:sp>
      <p:sp>
        <p:nvSpPr>
          <p:cNvPr id="5" name="Shape 3"/>
          <p:cNvSpPr/>
          <p:nvPr/>
        </p:nvSpPr>
        <p:spPr>
          <a:xfrm>
            <a:off x="685800" y="3913632"/>
            <a:ext cx="1097280" cy="1"/>
          </a:xfrm>
          <a:prstGeom prst="line">
            <a:avLst/>
          </a:prstGeom>
          <a:noFill/>
          <a:ln w="50800">
            <a:solidFill>
              <a:srgbClr val="FBB0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4114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>
                <a:solidFill>
                  <a:srgbClr val="FFFFFF"/>
                </a:solidFill>
              </a:rPr>
              <a:t>Proof-guided SDLC verification</a:t>
            </a:r>
            <a:endParaRPr lang="en-US" sz="1300"/>
          </a:p>
        </p:txBody>
      </p:sp>
      <p:pic>
        <p:nvPicPr>
          <p:cNvPr id="7" name="Image 0" descr="/mnt/data/052d8a5f43.png"/>
          <p:cNvPicPr>
            <a:picLocks noChangeAspect="1"/>
          </p:cNvPicPr>
          <p:nvPr/>
        </p:nvPicPr>
        <p:blipFill>
          <a:blip r:embed="rId3"/>
          <a:srcRect l="18271" r="18271"/>
          <a:stretch/>
        </p:blipFill>
        <p:spPr>
          <a:xfrm>
            <a:off x="6400800" y="320040"/>
            <a:ext cx="5788152" cy="6080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372AF4-1934-7081-E214-1690012F128A}"/>
              </a:ext>
            </a:extLst>
          </p:cNvPr>
          <p:cNvSpPr txBox="1"/>
          <p:nvPr/>
        </p:nvSpPr>
        <p:spPr>
          <a:xfrm>
            <a:off x="680281" y="4646178"/>
            <a:ext cx="5311986" cy="18816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FC4DA3EA-243C-8F7B-D670-28A920B43AA1}"/>
              </a:ext>
            </a:extLst>
          </p:cNvPr>
          <p:cNvSpPr/>
          <p:nvPr/>
        </p:nvSpPr>
        <p:spPr>
          <a:xfrm>
            <a:off x="675903" y="4647012"/>
            <a:ext cx="5303520" cy="152419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>
                <a:solidFill>
                  <a:srgbClr val="DDE8F6"/>
                </a:solidFill>
                <a:ea typeface="Calibri Light"/>
                <a:cs typeface="Calibri Light"/>
              </a:rPr>
              <a:t>Rohit Patil</a:t>
            </a:r>
          </a:p>
          <a:p>
            <a:r>
              <a:rPr lang="en-US">
                <a:solidFill>
                  <a:srgbClr val="DDE8F6"/>
                </a:solidFill>
                <a:ea typeface="Calibri Light"/>
                <a:cs typeface="Calibri Light"/>
              </a:rPr>
              <a:t>Swaraj </a:t>
            </a:r>
            <a:r>
              <a:rPr lang="en-US" err="1">
                <a:solidFill>
                  <a:srgbClr val="DDE8F6"/>
                </a:solidFill>
                <a:ea typeface="Calibri Light"/>
                <a:cs typeface="Calibri Light"/>
              </a:rPr>
              <a:t>Jahirabadkar</a:t>
            </a:r>
          </a:p>
          <a:p>
            <a:r>
              <a:rPr lang="en-US">
                <a:solidFill>
                  <a:srgbClr val="DDE8F6"/>
                </a:solidFill>
                <a:ea typeface="Calibri Light"/>
                <a:cs typeface="Calibri Light"/>
              </a:rPr>
              <a:t>Sia Mittal</a:t>
            </a:r>
            <a:br>
              <a:rPr lang="en-US">
                <a:solidFill>
                  <a:srgbClr val="DDE8F6"/>
                </a:solidFill>
                <a:ea typeface="Calibri Light"/>
                <a:cs typeface="Calibri Light"/>
              </a:rPr>
            </a:br>
            <a:r>
              <a:rPr lang="en-US">
                <a:solidFill>
                  <a:srgbClr val="DDE8F6"/>
                </a:solidFill>
                <a:ea typeface="Calibri Light"/>
                <a:cs typeface="Calibri Light"/>
              </a:rPr>
              <a:t>Jay Shorey</a:t>
            </a:r>
          </a:p>
          <a:p>
            <a:r>
              <a:rPr lang="en-US">
                <a:solidFill>
                  <a:srgbClr val="DDE8F6"/>
                </a:solidFill>
                <a:ea typeface="Calibri Light"/>
                <a:cs typeface="Calibri Light"/>
              </a:rPr>
              <a:t>Mentor – Dr. Anand Yeolekar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75488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big picture: idea to dependable software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493776" y="859536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67085"/>
                </a:solidFill>
              </a:rPr>
              <a:t>SDLC verification is the trust layer between intent and implementation.</a:t>
            </a:r>
            <a:endParaRPr lang="en-US" sz="125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1783080" cy="219456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4E84C4"/>
            </a:solidFill>
            <a:prstDash val="solid"/>
          </a:ln>
          <a:effectLst>
            <a:outerShdw blurRad="25400" dist="127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176272"/>
            <a:ext cx="594360" cy="594360"/>
          </a:xfrm>
          <a:prstGeom prst="ellipse">
            <a:avLst/>
          </a:prstGeom>
          <a:solidFill>
            <a:srgbClr val="4E84C4"/>
          </a:solidFill>
          <a:ln w="12700">
            <a:solidFill>
              <a:srgbClr val="4E84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3225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1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649224" y="2971800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111827"/>
                </a:solidFill>
              </a:rPr>
              <a:t>Idea</a:t>
            </a:r>
            <a:endParaRPr lang="en-US" sz="1700"/>
          </a:p>
        </p:txBody>
      </p:sp>
      <p:sp>
        <p:nvSpPr>
          <p:cNvPr id="8" name="Text 6"/>
          <p:cNvSpPr/>
          <p:nvPr/>
        </p:nvSpPr>
        <p:spPr>
          <a:xfrm>
            <a:off x="685800" y="3383280"/>
            <a:ext cx="1417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667085"/>
                </a:solidFill>
              </a:rPr>
              <a:t>Business intent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2286000" y="2971800"/>
            <a:ext cx="256032" cy="1"/>
          </a:xfrm>
          <a:prstGeom prst="line">
            <a:avLst/>
          </a:prstGeom>
          <a:noFill/>
          <a:ln w="25400">
            <a:solidFill>
              <a:srgbClr val="4E84C4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51760" y="1874520"/>
            <a:ext cx="1783080" cy="219456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4E84C4"/>
            </a:solidFill>
            <a:prstDash val="solid"/>
          </a:ln>
          <a:effectLst/>
        </p:spPr>
      </p:sp>
      <p:sp>
        <p:nvSpPr>
          <p:cNvPr id="11" name="Shape 9"/>
          <p:cNvSpPr/>
          <p:nvPr/>
        </p:nvSpPr>
        <p:spPr>
          <a:xfrm>
            <a:off x="3246120" y="2176272"/>
            <a:ext cx="594360" cy="594360"/>
          </a:xfrm>
          <a:prstGeom prst="ellipse">
            <a:avLst/>
          </a:prstGeom>
          <a:solidFill>
            <a:srgbClr val="4E84C4"/>
          </a:solidFill>
          <a:ln w="12700">
            <a:solidFill>
              <a:srgbClr val="4E84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23225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2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2798064" y="2971800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111827"/>
                </a:solidFill>
              </a:rPr>
              <a:t>Requirements</a:t>
            </a:r>
            <a:endParaRPr lang="en-US" sz="1700"/>
          </a:p>
        </p:txBody>
      </p:sp>
      <p:sp>
        <p:nvSpPr>
          <p:cNvPr id="14" name="Text 12"/>
          <p:cNvSpPr/>
          <p:nvPr/>
        </p:nvSpPr>
        <p:spPr>
          <a:xfrm>
            <a:off x="2834640" y="3383280"/>
            <a:ext cx="1417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667085"/>
                </a:solidFill>
              </a:rPr>
              <a:t>What the system must do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4434840" y="2971800"/>
            <a:ext cx="256032" cy="1"/>
          </a:xfrm>
          <a:prstGeom prst="line">
            <a:avLst/>
          </a:prstGeom>
          <a:noFill/>
          <a:ln w="25400">
            <a:solidFill>
              <a:srgbClr val="4E84C4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800600" y="1874520"/>
            <a:ext cx="2057400" cy="2194560"/>
          </a:xfrm>
          <a:prstGeom prst="roundRect">
            <a:avLst>
              <a:gd name="adj" fmla="val 4444"/>
            </a:avLst>
          </a:prstGeom>
          <a:solidFill>
            <a:srgbClr val="FFF7E6"/>
          </a:solidFill>
          <a:ln w="25400">
            <a:solidFill>
              <a:srgbClr val="FBB034"/>
            </a:solidFill>
            <a:prstDash val="solid"/>
          </a:ln>
          <a:effectLst/>
        </p:spPr>
      </p:sp>
      <p:sp>
        <p:nvSpPr>
          <p:cNvPr id="17" name="Shape 15"/>
          <p:cNvSpPr/>
          <p:nvPr/>
        </p:nvSpPr>
        <p:spPr>
          <a:xfrm>
            <a:off x="5394960" y="2176272"/>
            <a:ext cx="594360" cy="594360"/>
          </a:xfrm>
          <a:prstGeom prst="ellipse">
            <a:avLst/>
          </a:prstGeom>
          <a:solidFill>
            <a:srgbClr val="FBB034"/>
          </a:solidFill>
          <a:ln w="12700">
            <a:solidFill>
              <a:srgbClr val="FBB0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23225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3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>
          <a:xfrm>
            <a:off x="4946904" y="2971800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111827"/>
                </a:solidFill>
              </a:rPr>
              <a:t>Verification</a:t>
            </a:r>
            <a:endParaRPr lang="en-US" sz="1700"/>
          </a:p>
        </p:txBody>
      </p:sp>
      <p:sp>
        <p:nvSpPr>
          <p:cNvPr id="20" name="Text 18"/>
          <p:cNvSpPr/>
          <p:nvPr/>
        </p:nvSpPr>
        <p:spPr>
          <a:xfrm>
            <a:off x="4983480" y="3383280"/>
            <a:ext cx="16916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667085"/>
                </a:solidFill>
              </a:rPr>
              <a:t>Are requirements clear, complete and consistent?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>
          <a:xfrm>
            <a:off x="6858000" y="2971800"/>
            <a:ext cx="393192" cy="1"/>
          </a:xfrm>
          <a:prstGeom prst="line">
            <a:avLst/>
          </a:prstGeom>
          <a:noFill/>
          <a:ln w="25400">
            <a:solidFill>
              <a:srgbClr val="4E84C4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60920" y="1874520"/>
            <a:ext cx="1783080" cy="219456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4E84C4"/>
            </a:solidFill>
            <a:prstDash val="solid"/>
          </a:ln>
          <a:effectLst/>
        </p:spPr>
      </p:sp>
      <p:sp>
        <p:nvSpPr>
          <p:cNvPr id="23" name="Shape 21"/>
          <p:cNvSpPr/>
          <p:nvPr/>
        </p:nvSpPr>
        <p:spPr>
          <a:xfrm>
            <a:off x="7955280" y="2176272"/>
            <a:ext cx="594360" cy="594360"/>
          </a:xfrm>
          <a:prstGeom prst="ellipse">
            <a:avLst/>
          </a:prstGeom>
          <a:solidFill>
            <a:srgbClr val="4E84C4"/>
          </a:solidFill>
          <a:ln w="12700">
            <a:solidFill>
              <a:srgbClr val="4E84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0" y="23225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4</a:t>
            </a:r>
            <a:endParaRPr lang="en-US" sz="1300"/>
          </a:p>
        </p:txBody>
      </p:sp>
      <p:sp>
        <p:nvSpPr>
          <p:cNvPr id="25" name="Text 23"/>
          <p:cNvSpPr/>
          <p:nvPr/>
        </p:nvSpPr>
        <p:spPr>
          <a:xfrm>
            <a:off x="7507224" y="2971800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111827"/>
                </a:solidFill>
              </a:rPr>
              <a:t>Build</a:t>
            </a:r>
            <a:endParaRPr lang="en-US" sz="1700"/>
          </a:p>
        </p:txBody>
      </p:sp>
      <p:sp>
        <p:nvSpPr>
          <p:cNvPr id="26" name="Text 24"/>
          <p:cNvSpPr/>
          <p:nvPr/>
        </p:nvSpPr>
        <p:spPr>
          <a:xfrm>
            <a:off x="7543800" y="3383280"/>
            <a:ext cx="1417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667085"/>
                </a:solidFill>
              </a:rPr>
              <a:t>Human or AI implementation</a:t>
            </a:r>
            <a:endParaRPr lang="en-US" sz="1100"/>
          </a:p>
        </p:txBody>
      </p:sp>
      <p:sp>
        <p:nvSpPr>
          <p:cNvPr id="27" name="Shape 25"/>
          <p:cNvSpPr/>
          <p:nvPr/>
        </p:nvSpPr>
        <p:spPr>
          <a:xfrm>
            <a:off x="9144000" y="2971800"/>
            <a:ext cx="576072" cy="1"/>
          </a:xfrm>
          <a:prstGeom prst="line">
            <a:avLst/>
          </a:prstGeom>
          <a:noFill/>
          <a:ln w="25400">
            <a:solidFill>
              <a:srgbClr val="4E84C4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829800" y="1874520"/>
            <a:ext cx="1783080" cy="219456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4E84C4"/>
            </a:solidFill>
            <a:prstDash val="solid"/>
          </a:ln>
          <a:effectLst/>
        </p:spPr>
      </p:sp>
      <p:sp>
        <p:nvSpPr>
          <p:cNvPr id="29" name="Shape 27"/>
          <p:cNvSpPr/>
          <p:nvPr/>
        </p:nvSpPr>
        <p:spPr>
          <a:xfrm>
            <a:off x="10424160" y="2176272"/>
            <a:ext cx="594360" cy="594360"/>
          </a:xfrm>
          <a:prstGeom prst="ellipse">
            <a:avLst/>
          </a:prstGeom>
          <a:solidFill>
            <a:srgbClr val="4E84C4"/>
          </a:solidFill>
          <a:ln w="12700">
            <a:solidFill>
              <a:srgbClr val="4E84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424160" y="23225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5</a:t>
            </a:r>
            <a:endParaRPr lang="en-US" sz="1300"/>
          </a:p>
        </p:txBody>
      </p:sp>
      <p:sp>
        <p:nvSpPr>
          <p:cNvPr id="31" name="Text 29"/>
          <p:cNvSpPr/>
          <p:nvPr/>
        </p:nvSpPr>
        <p:spPr>
          <a:xfrm>
            <a:off x="9976104" y="2971800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111827"/>
                </a:solidFill>
              </a:rPr>
              <a:t>Software</a:t>
            </a:r>
            <a:endParaRPr lang="en-US" sz="1700"/>
          </a:p>
        </p:txBody>
      </p:sp>
      <p:sp>
        <p:nvSpPr>
          <p:cNvPr id="32" name="Text 30"/>
          <p:cNvSpPr/>
          <p:nvPr/>
        </p:nvSpPr>
        <p:spPr>
          <a:xfrm>
            <a:off x="10012680" y="3383280"/>
            <a:ext cx="1417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>
                <a:solidFill>
                  <a:srgbClr val="667085"/>
                </a:solidFill>
              </a:rPr>
              <a:t>Reliable behavior</a:t>
            </a:r>
            <a:endParaRPr lang="en-US" sz="1100"/>
          </a:p>
        </p:txBody>
      </p:sp>
      <p:sp>
        <p:nvSpPr>
          <p:cNvPr id="33" name="Shape 31"/>
          <p:cNvSpPr/>
          <p:nvPr/>
        </p:nvSpPr>
        <p:spPr>
          <a:xfrm>
            <a:off x="502920" y="5897880"/>
            <a:ext cx="11064240" cy="411480"/>
          </a:xfrm>
          <a:prstGeom prst="roundRect">
            <a:avLst>
              <a:gd name="adj" fmla="val 26667"/>
            </a:avLst>
          </a:prstGeom>
          <a:solidFill>
            <a:srgbClr val="EEF4FA"/>
          </a:solidFill>
          <a:ln w="12700">
            <a:solidFill>
              <a:srgbClr val="D5E2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5998464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E84C4"/>
                </a:solidFill>
              </a:rPr>
              <a:t>If the specification is wrong, faster implementation only delivers the wrong system faster.</a:t>
            </a:r>
            <a:endParaRPr lang="en-US" sz="120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75488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problem: natural-language requirements are not proof-ready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493776" y="859536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67085"/>
                </a:solidFill>
              </a:rPr>
              <a:t>Documents can look reasonable while hiding defects that only appear when requirements interact.</a:t>
            </a:r>
            <a:endParaRPr lang="en-US" sz="125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2514600" cy="32461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5DFEA"/>
            </a:solidFill>
            <a:prstDash val="solid"/>
          </a:ln>
          <a:effectLst/>
        </p:spPr>
      </p:sp>
      <p:sp>
        <p:nvSpPr>
          <p:cNvPr id="5" name="Shape 3"/>
          <p:cNvSpPr/>
          <p:nvPr/>
        </p:nvSpPr>
        <p:spPr>
          <a:xfrm>
            <a:off x="566928" y="1600200"/>
            <a:ext cx="73152" cy="3246120"/>
          </a:xfrm>
          <a:prstGeom prst="rect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76479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11827"/>
                </a:solidFill>
              </a:rPr>
              <a:t>Ambiguity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795528" y="2130552"/>
            <a:ext cx="2130552" cy="2587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“Quickly”, “adequate”, “normally”</a:t>
            </a:r>
            <a:endParaRPr lang="en-US" sz="1150"/>
          </a:p>
          <a:p>
            <a:pPr marL="0" indent="0">
              <a:buNone/>
            </a:pP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No single executable meaning</a:t>
            </a:r>
            <a:endParaRPr lang="en-US" sz="1150"/>
          </a:p>
        </p:txBody>
      </p:sp>
      <p:sp>
        <p:nvSpPr>
          <p:cNvPr id="8" name="Shape 6"/>
          <p:cNvSpPr/>
          <p:nvPr/>
        </p:nvSpPr>
        <p:spPr>
          <a:xfrm>
            <a:off x="3419856" y="1600200"/>
            <a:ext cx="2514600" cy="32461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5DFEA"/>
            </a:solidFill>
            <a:prstDash val="solid"/>
          </a:ln>
          <a:effectLst/>
        </p:spPr>
      </p:sp>
      <p:sp>
        <p:nvSpPr>
          <p:cNvPr id="9" name="Shape 7"/>
          <p:cNvSpPr/>
          <p:nvPr/>
        </p:nvSpPr>
        <p:spPr>
          <a:xfrm>
            <a:off x="3419856" y="1600200"/>
            <a:ext cx="73152" cy="3246120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48456" y="176479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11827"/>
                </a:solidFill>
              </a:rPr>
              <a:t>Contradiction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3648456" y="2130552"/>
            <a:ext cx="2130552" cy="2587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Guest access vs. admin-only access</a:t>
            </a:r>
            <a:endParaRPr lang="en-US" sz="1150"/>
          </a:p>
          <a:p>
            <a:pPr marL="0" indent="0">
              <a:buNone/>
            </a:pP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Both cannot hold together</a:t>
            </a:r>
            <a:endParaRPr lang="en-US" sz="1150"/>
          </a:p>
        </p:txBody>
      </p:sp>
      <p:sp>
        <p:nvSpPr>
          <p:cNvPr id="12" name="Shape 10"/>
          <p:cNvSpPr/>
          <p:nvPr/>
        </p:nvSpPr>
        <p:spPr>
          <a:xfrm>
            <a:off x="6272784" y="1600200"/>
            <a:ext cx="2514600" cy="32461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5DFEA"/>
            </a:solidFill>
            <a:prstDash val="solid"/>
          </a:ln>
          <a:effectLst/>
        </p:spPr>
      </p:sp>
      <p:sp>
        <p:nvSpPr>
          <p:cNvPr id="13" name="Shape 11"/>
          <p:cNvSpPr/>
          <p:nvPr/>
        </p:nvSpPr>
        <p:spPr>
          <a:xfrm>
            <a:off x="6272784" y="1600200"/>
            <a:ext cx="73152" cy="3246120"/>
          </a:xfrm>
          <a:prstGeom prst="rect">
            <a:avLst/>
          </a:prstGeom>
          <a:solidFill>
            <a:srgbClr val="FBB034"/>
          </a:solidFill>
          <a:ln w="12700">
            <a:solidFill>
              <a:srgbClr val="FBB0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01384" y="176479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11827"/>
                </a:solidFill>
              </a:rPr>
              <a:t>Missing coverage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6501384" y="2130552"/>
            <a:ext cx="2130552" cy="2587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Rules for below 18°C and above 24°C</a:t>
            </a:r>
            <a:endParaRPr lang="en-US" sz="1150"/>
          </a:p>
          <a:p>
            <a:pPr marL="0" indent="0">
              <a:buNone/>
            </a:pP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No behavior for the middle range</a:t>
            </a:r>
            <a:endParaRPr lang="en-US" sz="1150"/>
          </a:p>
        </p:txBody>
      </p:sp>
      <p:sp>
        <p:nvSpPr>
          <p:cNvPr id="16" name="Shape 14"/>
          <p:cNvSpPr/>
          <p:nvPr/>
        </p:nvSpPr>
        <p:spPr>
          <a:xfrm>
            <a:off x="9125712" y="1600200"/>
            <a:ext cx="2514600" cy="32461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5DFEA"/>
            </a:solidFill>
            <a:prstDash val="solid"/>
          </a:ln>
          <a:effectLst/>
        </p:spPr>
      </p:sp>
      <p:sp>
        <p:nvSpPr>
          <p:cNvPr id="17" name="Shape 15"/>
          <p:cNvSpPr/>
          <p:nvPr/>
        </p:nvSpPr>
        <p:spPr>
          <a:xfrm>
            <a:off x="9125712" y="1600200"/>
            <a:ext cx="73152" cy="3246120"/>
          </a:xfrm>
          <a:prstGeom prst="rect">
            <a:avLst/>
          </a:prstGeom>
          <a:solidFill>
            <a:srgbClr val="4E84C4"/>
          </a:solidFill>
          <a:ln w="12700">
            <a:solidFill>
              <a:srgbClr val="4E84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54312" y="176479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11827"/>
                </a:solidFill>
              </a:rPr>
              <a:t>Cross-rule effects</a:t>
            </a:r>
            <a:endParaRPr lang="en-US" sz="1500"/>
          </a:p>
        </p:txBody>
      </p:sp>
      <p:sp>
        <p:nvSpPr>
          <p:cNvPr id="19" name="Text 17"/>
          <p:cNvSpPr/>
          <p:nvPr/>
        </p:nvSpPr>
        <p:spPr>
          <a:xfrm>
            <a:off x="9354312" y="2130552"/>
            <a:ext cx="2130552" cy="2587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Retries, timeouts and end-to-end limits</a:t>
            </a:r>
            <a:endParaRPr lang="en-US" sz="1150"/>
          </a:p>
          <a:p>
            <a:pPr marL="0" indent="0">
              <a:buNone/>
            </a:pP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Individually valid, globally infeasible</a:t>
            </a:r>
            <a:endParaRPr lang="en-US" sz="1150"/>
          </a:p>
        </p:txBody>
      </p:sp>
      <p:sp>
        <p:nvSpPr>
          <p:cNvPr id="20" name="Shape 18"/>
          <p:cNvSpPr/>
          <p:nvPr/>
        </p:nvSpPr>
        <p:spPr>
          <a:xfrm>
            <a:off x="502920" y="5897880"/>
            <a:ext cx="11064240" cy="411480"/>
          </a:xfrm>
          <a:prstGeom prst="roundRect">
            <a:avLst>
              <a:gd name="adj" fmla="val 26667"/>
            </a:avLst>
          </a:prstGeom>
          <a:solidFill>
            <a:srgbClr val="EEF4FA"/>
          </a:solidFill>
          <a:ln w="12700">
            <a:solidFill>
              <a:srgbClr val="D5E2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5998464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E84C4"/>
                </a:solidFill>
              </a:rPr>
              <a:t>The hardest defects are not spelling errors. They are logical interactions across requirements.</a:t>
            </a:r>
            <a:endParaRPr lang="en-US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75488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this problem is worth solving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493776" y="859536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67085"/>
                </a:solidFill>
              </a:rPr>
              <a:t>Requirement defects propagate downstream, where correction becomes slower, costlier and harder to explain.</a:t>
            </a:r>
            <a:endParaRPr lang="en-US" sz="125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881360" cy="804672"/>
          </a:xfrm>
          <a:prstGeom prst="roundRect">
            <a:avLst>
              <a:gd name="adj" fmla="val 9091"/>
            </a:avLst>
          </a:prstGeom>
          <a:solidFill>
            <a:srgbClr val="EEF4FA"/>
          </a:solidFill>
          <a:ln w="12700">
            <a:solidFill>
              <a:srgbClr val="D8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11827"/>
                </a:solidFill>
              </a:rPr>
              <a:t>Business &amp; product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3127248" y="16459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D92D20"/>
                </a:solidFill>
              </a:rPr>
              <a:t>Misaligned intent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6291072" y="164592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67085"/>
                </a:solidFill>
              </a:rPr>
              <a:t>Unclear acceptance criteria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640080" y="2514600"/>
            <a:ext cx="10881360" cy="804672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D8E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6791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11827"/>
                </a:solidFill>
              </a:rPr>
              <a:t>Architecture &amp; engineering</a:t>
            </a:r>
            <a:endParaRPr lang="en-US" sz="1500"/>
          </a:p>
        </p:txBody>
      </p:sp>
      <p:sp>
        <p:nvSpPr>
          <p:cNvPr id="10" name="Text 8"/>
          <p:cNvSpPr/>
          <p:nvPr/>
        </p:nvSpPr>
        <p:spPr>
          <a:xfrm>
            <a:off x="3127248" y="26791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D92D20"/>
                </a:solidFill>
              </a:rPr>
              <a:t>Conflicting design choices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6291072" y="267919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67085"/>
                </a:solidFill>
              </a:rPr>
              <a:t>Rework and unstable interfaces</a:t>
            </a:r>
            <a:endParaRPr lang="en-US" sz="1300"/>
          </a:p>
        </p:txBody>
      </p:sp>
      <p:sp>
        <p:nvSpPr>
          <p:cNvPr id="12" name="Shape 10"/>
          <p:cNvSpPr/>
          <p:nvPr/>
        </p:nvSpPr>
        <p:spPr>
          <a:xfrm>
            <a:off x="640080" y="3547872"/>
            <a:ext cx="10881360" cy="804672"/>
          </a:xfrm>
          <a:prstGeom prst="roundRect">
            <a:avLst>
              <a:gd name="adj" fmla="val 9091"/>
            </a:avLst>
          </a:prstGeom>
          <a:solidFill>
            <a:srgbClr val="EEF4FA"/>
          </a:solidFill>
          <a:ln w="12700">
            <a:solidFill>
              <a:srgbClr val="D8E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71246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11827"/>
                </a:solidFill>
              </a:rPr>
              <a:t>Testing &amp; assurance</a:t>
            </a:r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3127248" y="37124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D92D20"/>
                </a:solidFill>
              </a:rPr>
              <a:t>Unclear oracle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6291072" y="371246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67085"/>
                </a:solidFill>
              </a:rPr>
              <a:t>Incomplete traceability</a:t>
            </a:r>
            <a:endParaRPr lang="en-US" sz="1300"/>
          </a:p>
        </p:txBody>
      </p:sp>
      <p:sp>
        <p:nvSpPr>
          <p:cNvPr id="16" name="Shape 14"/>
          <p:cNvSpPr/>
          <p:nvPr/>
        </p:nvSpPr>
        <p:spPr>
          <a:xfrm>
            <a:off x="640080" y="4581144"/>
            <a:ext cx="10881360" cy="804672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D8E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74573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11827"/>
                </a:solidFill>
              </a:rPr>
              <a:t>AI-assisted delivery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3127248" y="47457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D92D20"/>
                </a:solidFill>
              </a:rPr>
              <a:t>Plausible but incorrect output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>
          <a:xfrm>
            <a:off x="6291072" y="474573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67085"/>
                </a:solidFill>
              </a:rPr>
              <a:t>Low confidence in generated artifacts</a:t>
            </a:r>
            <a:endParaRPr lang="en-US" sz="1300"/>
          </a:p>
        </p:txBody>
      </p:sp>
      <p:sp>
        <p:nvSpPr>
          <p:cNvPr id="20" name="Text 18"/>
          <p:cNvSpPr/>
          <p:nvPr/>
        </p:nvSpPr>
        <p:spPr>
          <a:xfrm>
            <a:off x="658368" y="5715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11827"/>
                </a:solidFill>
              </a:rPr>
              <a:t>Who has this problem?</a:t>
            </a:r>
            <a:endParaRPr lang="en-US" sz="1500"/>
          </a:p>
        </p:txBody>
      </p:sp>
      <p:sp>
        <p:nvSpPr>
          <p:cNvPr id="21" name="Shape 19"/>
          <p:cNvSpPr/>
          <p:nvPr/>
        </p:nvSpPr>
        <p:spPr>
          <a:xfrm>
            <a:off x="2743200" y="5650992"/>
            <a:ext cx="1097280" cy="347472"/>
          </a:xfrm>
          <a:prstGeom prst="roundRect">
            <a:avLst>
              <a:gd name="adj" fmla="val 42105"/>
            </a:avLst>
          </a:prstGeom>
          <a:solidFill>
            <a:srgbClr val="4E84C4"/>
          </a:solidFill>
          <a:ln w="12700">
            <a:solidFill>
              <a:srgbClr val="4E84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16352" y="5724144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</a:rPr>
              <a:t>Business analysts</a:t>
            </a:r>
            <a:endParaRPr lang="en-US" sz="1050"/>
          </a:p>
        </p:txBody>
      </p:sp>
      <p:sp>
        <p:nvSpPr>
          <p:cNvPr id="23" name="Shape 21"/>
          <p:cNvSpPr/>
          <p:nvPr/>
        </p:nvSpPr>
        <p:spPr>
          <a:xfrm>
            <a:off x="3968496" y="5650992"/>
            <a:ext cx="1097280" cy="347472"/>
          </a:xfrm>
          <a:prstGeom prst="roundRect">
            <a:avLst>
              <a:gd name="adj" fmla="val 42105"/>
            </a:avLst>
          </a:prstGeom>
          <a:solidFill>
            <a:srgbClr val="4E84C4"/>
          </a:solidFill>
          <a:ln w="12700">
            <a:solidFill>
              <a:srgbClr val="4E84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41648" y="5724144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</a:rPr>
              <a:t>Product owners</a:t>
            </a:r>
            <a:endParaRPr lang="en-US" sz="1050"/>
          </a:p>
        </p:txBody>
      </p:sp>
      <p:sp>
        <p:nvSpPr>
          <p:cNvPr id="25" name="Shape 23"/>
          <p:cNvSpPr/>
          <p:nvPr/>
        </p:nvSpPr>
        <p:spPr>
          <a:xfrm>
            <a:off x="5193792" y="5650992"/>
            <a:ext cx="1097280" cy="347472"/>
          </a:xfrm>
          <a:prstGeom prst="roundRect">
            <a:avLst>
              <a:gd name="adj" fmla="val 42105"/>
            </a:avLst>
          </a:prstGeom>
          <a:solidFill>
            <a:srgbClr val="4E84C4"/>
          </a:solidFill>
          <a:ln w="12700">
            <a:solidFill>
              <a:srgbClr val="4E84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66944" y="5724144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</a:rPr>
              <a:t>Architects</a:t>
            </a:r>
            <a:endParaRPr lang="en-US" sz="1050"/>
          </a:p>
        </p:txBody>
      </p:sp>
      <p:sp>
        <p:nvSpPr>
          <p:cNvPr id="27" name="Shape 25"/>
          <p:cNvSpPr/>
          <p:nvPr/>
        </p:nvSpPr>
        <p:spPr>
          <a:xfrm>
            <a:off x="6419088" y="5650992"/>
            <a:ext cx="1097280" cy="347472"/>
          </a:xfrm>
          <a:prstGeom prst="roundRect">
            <a:avLst>
              <a:gd name="adj" fmla="val 42105"/>
            </a:avLst>
          </a:prstGeom>
          <a:solidFill>
            <a:srgbClr val="4E84C4"/>
          </a:solidFill>
          <a:ln w="12700">
            <a:solidFill>
              <a:srgbClr val="4E84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5724144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</a:rPr>
              <a:t>Developers</a:t>
            </a:r>
            <a:endParaRPr lang="en-US" sz="1050"/>
          </a:p>
        </p:txBody>
      </p:sp>
      <p:sp>
        <p:nvSpPr>
          <p:cNvPr id="29" name="Shape 27"/>
          <p:cNvSpPr/>
          <p:nvPr/>
        </p:nvSpPr>
        <p:spPr>
          <a:xfrm>
            <a:off x="7644384" y="5650992"/>
            <a:ext cx="1097280" cy="347472"/>
          </a:xfrm>
          <a:prstGeom prst="roundRect">
            <a:avLst>
              <a:gd name="adj" fmla="val 42105"/>
            </a:avLst>
          </a:prstGeom>
          <a:solidFill>
            <a:srgbClr val="4E84C4"/>
          </a:solidFill>
          <a:ln w="12700">
            <a:solidFill>
              <a:srgbClr val="4E84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17536" y="5724144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</a:rPr>
              <a:t>Test teams</a:t>
            </a:r>
            <a:endParaRPr lang="en-US" sz="1050"/>
          </a:p>
        </p:txBody>
      </p:sp>
      <p:sp>
        <p:nvSpPr>
          <p:cNvPr id="31" name="Shape 29"/>
          <p:cNvSpPr/>
          <p:nvPr/>
        </p:nvSpPr>
        <p:spPr>
          <a:xfrm>
            <a:off x="8869680" y="5650992"/>
            <a:ext cx="1097280" cy="347472"/>
          </a:xfrm>
          <a:prstGeom prst="roundRect">
            <a:avLst>
              <a:gd name="adj" fmla="val 42105"/>
            </a:avLst>
          </a:prstGeom>
          <a:solidFill>
            <a:srgbClr val="4E84C4"/>
          </a:solidFill>
          <a:ln w="12700">
            <a:solidFill>
              <a:srgbClr val="4E84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42832" y="5724144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</a:rPr>
              <a:t>Auditors</a:t>
            </a:r>
            <a:endParaRPr lang="en-US" sz="1050"/>
          </a:p>
        </p:txBody>
      </p:sp>
      <p:sp>
        <p:nvSpPr>
          <p:cNvPr id="33" name="Shape 31"/>
          <p:cNvSpPr/>
          <p:nvPr/>
        </p:nvSpPr>
        <p:spPr>
          <a:xfrm>
            <a:off x="10094976" y="5650992"/>
            <a:ext cx="1097280" cy="347472"/>
          </a:xfrm>
          <a:prstGeom prst="roundRect">
            <a:avLst>
              <a:gd name="adj" fmla="val 42105"/>
            </a:avLst>
          </a:prstGeom>
          <a:solidFill>
            <a:srgbClr val="FBB034"/>
          </a:solidFill>
          <a:ln w="12700">
            <a:solidFill>
              <a:srgbClr val="FBB03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68128" y="5724144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</a:rPr>
              <a:t>AI agents</a:t>
            </a:r>
            <a:endParaRPr lang="en-US" sz="105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75488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convert requirements into formal language?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493776" y="859536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67085"/>
                </a:solidFill>
              </a:rPr>
              <a:t>Formalization turns interpretation into explicit objects that can be checked mechanically.</a:t>
            </a:r>
            <a:endParaRPr lang="en-US" sz="1250"/>
          </a:p>
        </p:txBody>
      </p:sp>
      <p:pic>
        <p:nvPicPr>
          <p:cNvPr id="4" name="Image 0" descr="/mnt/data/71c085d2b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45920"/>
            <a:ext cx="548640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63640" y="1325880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FEA"/>
            </a:solidFill>
            <a:prstDash val="solid"/>
          </a:ln>
          <a:effectLst/>
        </p:spPr>
      </p:sp>
      <p:sp>
        <p:nvSpPr>
          <p:cNvPr id="6" name="Shape 3"/>
          <p:cNvSpPr/>
          <p:nvPr/>
        </p:nvSpPr>
        <p:spPr>
          <a:xfrm>
            <a:off x="6263640" y="1325880"/>
            <a:ext cx="73152" cy="914400"/>
          </a:xfrm>
          <a:prstGeom prst="rect">
            <a:avLst/>
          </a:prstGeom>
          <a:solidFill>
            <a:srgbClr val="4E84C4"/>
          </a:solidFill>
          <a:ln w="12700">
            <a:solidFill>
              <a:srgbClr val="4E84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2240" y="1490472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11827"/>
                </a:solidFill>
              </a:rPr>
              <a:t>Explicit semantics</a:t>
            </a:r>
            <a:endParaRPr lang="en-US" sz="1500"/>
          </a:p>
        </p:txBody>
      </p:sp>
      <p:sp>
        <p:nvSpPr>
          <p:cNvPr id="8" name="Text 5"/>
          <p:cNvSpPr/>
          <p:nvPr/>
        </p:nvSpPr>
        <p:spPr>
          <a:xfrm>
            <a:off x="6492240" y="1856232"/>
            <a:ext cx="487375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Predicates, quantifiers, states, bounds and actions are visible.</a:t>
            </a:r>
            <a:endParaRPr lang="en-US" sz="1150"/>
          </a:p>
        </p:txBody>
      </p:sp>
      <p:sp>
        <p:nvSpPr>
          <p:cNvPr id="9" name="Shape 6"/>
          <p:cNvSpPr/>
          <p:nvPr/>
        </p:nvSpPr>
        <p:spPr>
          <a:xfrm>
            <a:off x="6263640" y="2441448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FEA"/>
            </a:solidFill>
            <a:prstDash val="solid"/>
          </a:ln>
          <a:effectLst/>
        </p:spPr>
      </p:sp>
      <p:sp>
        <p:nvSpPr>
          <p:cNvPr id="10" name="Shape 7"/>
          <p:cNvSpPr/>
          <p:nvPr/>
        </p:nvSpPr>
        <p:spPr>
          <a:xfrm>
            <a:off x="6263640" y="2441448"/>
            <a:ext cx="73152" cy="914400"/>
          </a:xfrm>
          <a:prstGeom prst="rect">
            <a:avLst/>
          </a:prstGeom>
          <a:solidFill>
            <a:srgbClr val="4E84C4"/>
          </a:solidFill>
          <a:ln w="12700">
            <a:solidFill>
              <a:srgbClr val="4E84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2240" y="2606040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11827"/>
                </a:solidFill>
              </a:rPr>
              <a:t>Machine-checkable claims</a:t>
            </a:r>
            <a:endParaRPr lang="en-US" sz="1500"/>
          </a:p>
        </p:txBody>
      </p:sp>
      <p:sp>
        <p:nvSpPr>
          <p:cNvPr id="12" name="Text 9"/>
          <p:cNvSpPr/>
          <p:nvPr/>
        </p:nvSpPr>
        <p:spPr>
          <a:xfrm>
            <a:off x="6492240" y="2971800"/>
            <a:ext cx="487375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A prover validates whether conclusions follow from premises.</a:t>
            </a:r>
            <a:endParaRPr lang="en-US" sz="1150"/>
          </a:p>
        </p:txBody>
      </p:sp>
      <p:sp>
        <p:nvSpPr>
          <p:cNvPr id="13" name="Shape 10"/>
          <p:cNvSpPr/>
          <p:nvPr/>
        </p:nvSpPr>
        <p:spPr>
          <a:xfrm>
            <a:off x="6263640" y="3557016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FEA"/>
            </a:solidFill>
            <a:prstDash val="solid"/>
          </a:ln>
          <a:effectLst/>
        </p:spPr>
      </p:sp>
      <p:sp>
        <p:nvSpPr>
          <p:cNvPr id="14" name="Shape 11"/>
          <p:cNvSpPr/>
          <p:nvPr/>
        </p:nvSpPr>
        <p:spPr>
          <a:xfrm>
            <a:off x="6263640" y="3557016"/>
            <a:ext cx="73152" cy="914400"/>
          </a:xfrm>
          <a:prstGeom prst="rect">
            <a:avLst/>
          </a:prstGeom>
          <a:solidFill>
            <a:srgbClr val="FBB034"/>
          </a:solidFill>
          <a:ln w="12700">
            <a:solidFill>
              <a:srgbClr val="FBB03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92240" y="3721608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11827"/>
                </a:solidFill>
              </a:rPr>
              <a:t>Counterexamples and witnesses</a:t>
            </a:r>
            <a:endParaRPr lang="en-US" sz="1500"/>
          </a:p>
        </p:txBody>
      </p:sp>
      <p:sp>
        <p:nvSpPr>
          <p:cNvPr id="16" name="Text 13"/>
          <p:cNvSpPr/>
          <p:nvPr/>
        </p:nvSpPr>
        <p:spPr>
          <a:xfrm>
            <a:off x="6492240" y="4087368"/>
            <a:ext cx="487375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Failures can point to a conflicting pair, uncovered case or invalid transition.</a:t>
            </a:r>
            <a:endParaRPr lang="en-US" sz="1150"/>
          </a:p>
        </p:txBody>
      </p:sp>
      <p:sp>
        <p:nvSpPr>
          <p:cNvPr id="17" name="Shape 14"/>
          <p:cNvSpPr/>
          <p:nvPr/>
        </p:nvSpPr>
        <p:spPr>
          <a:xfrm>
            <a:off x="6263640" y="4672584"/>
            <a:ext cx="5257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FEA"/>
            </a:solidFill>
            <a:prstDash val="solid"/>
          </a:ln>
          <a:effectLst/>
        </p:spPr>
      </p:sp>
      <p:sp>
        <p:nvSpPr>
          <p:cNvPr id="18" name="Shape 15"/>
          <p:cNvSpPr/>
          <p:nvPr/>
        </p:nvSpPr>
        <p:spPr>
          <a:xfrm>
            <a:off x="6263640" y="4672584"/>
            <a:ext cx="73152" cy="914400"/>
          </a:xfrm>
          <a:prstGeom prst="rect">
            <a:avLst/>
          </a:prstGeom>
          <a:solidFill>
            <a:srgbClr val="4E84C4"/>
          </a:solidFill>
          <a:ln w="12700">
            <a:solidFill>
              <a:srgbClr val="4E84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92240" y="4837176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11827"/>
                </a:solidFill>
              </a:rPr>
              <a:t>Repeatability</a:t>
            </a:r>
            <a:endParaRPr lang="en-US" sz="1500"/>
          </a:p>
        </p:txBody>
      </p:sp>
      <p:sp>
        <p:nvSpPr>
          <p:cNvPr id="20" name="Text 17"/>
          <p:cNvSpPr/>
          <p:nvPr/>
        </p:nvSpPr>
        <p:spPr>
          <a:xfrm>
            <a:off x="6492240" y="5202936"/>
            <a:ext cx="487375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The same requirement model produces the same verification obligation.</a:t>
            </a:r>
            <a:endParaRPr lang="en-US" sz="11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75488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Our approach: constrain the LLM, let the prover decide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493776" y="859536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67085"/>
                </a:solidFill>
              </a:rPr>
              <a:t>The LLM performs structured extraction and template filling, not unconstrained theorem invention.</a:t>
            </a:r>
            <a:endParaRPr lang="en-US" sz="125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600200" cy="25146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CBD8E5"/>
            </a:solidFill>
            <a:prstDash val="solid"/>
          </a:ln>
          <a:effectLst/>
        </p:spPr>
      </p:sp>
      <p:sp>
        <p:nvSpPr>
          <p:cNvPr id="5" name="Text 3"/>
          <p:cNvSpPr/>
          <p:nvPr/>
        </p:nvSpPr>
        <p:spPr>
          <a:xfrm>
            <a:off x="640080" y="1993392"/>
            <a:ext cx="292608" cy="292608"/>
          </a:xfrm>
          <a:prstGeom prst="ellipse">
            <a:avLst/>
          </a:prstGeom>
          <a:solidFill>
            <a:srgbClr val="4E84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</a:rPr>
              <a:t>1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640080" y="254203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111827"/>
                </a:solidFill>
              </a:rPr>
              <a:t>Ingest</a:t>
            </a:r>
            <a:endParaRPr lang="en-US" sz="1700"/>
          </a:p>
        </p:txBody>
      </p:sp>
      <p:sp>
        <p:nvSpPr>
          <p:cNvPr id="7" name="Text 5"/>
          <p:cNvSpPr/>
          <p:nvPr/>
        </p:nvSpPr>
        <p:spPr>
          <a:xfrm>
            <a:off x="649224" y="3127248"/>
            <a:ext cx="1307592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>
                <a:solidFill>
                  <a:srgbClr val="667085"/>
                </a:solidFill>
              </a:rPr>
              <a:t>SRS / SDLC document</a:t>
            </a:r>
            <a:endParaRPr lang="en-US" sz="1150"/>
          </a:p>
        </p:txBody>
      </p:sp>
      <p:sp>
        <p:nvSpPr>
          <p:cNvPr id="8" name="Shape 6"/>
          <p:cNvSpPr/>
          <p:nvPr/>
        </p:nvSpPr>
        <p:spPr>
          <a:xfrm>
            <a:off x="2103120" y="3063240"/>
            <a:ext cx="274320" cy="1"/>
          </a:xfrm>
          <a:prstGeom prst="line">
            <a:avLst/>
          </a:prstGeom>
          <a:noFill/>
          <a:ln w="25400">
            <a:solidFill>
              <a:srgbClr val="4E84C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23160" y="1828800"/>
            <a:ext cx="1600200" cy="25146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CBD8E5"/>
            </a:solidFill>
            <a:prstDash val="solid"/>
          </a:ln>
          <a:effectLst/>
        </p:spPr>
      </p:sp>
      <p:sp>
        <p:nvSpPr>
          <p:cNvPr id="10" name="Text 8"/>
          <p:cNvSpPr/>
          <p:nvPr/>
        </p:nvSpPr>
        <p:spPr>
          <a:xfrm>
            <a:off x="2560320" y="1993392"/>
            <a:ext cx="292608" cy="292608"/>
          </a:xfrm>
          <a:prstGeom prst="ellipse">
            <a:avLst/>
          </a:prstGeom>
          <a:solidFill>
            <a:srgbClr val="4E84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</a:rPr>
              <a:t>2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2560320" y="254203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111827"/>
                </a:solidFill>
              </a:rPr>
              <a:t>Clarify</a:t>
            </a:r>
            <a:endParaRPr lang="en-US" sz="1700"/>
          </a:p>
        </p:txBody>
      </p:sp>
      <p:sp>
        <p:nvSpPr>
          <p:cNvPr id="12" name="Text 10"/>
          <p:cNvSpPr/>
          <p:nvPr/>
        </p:nvSpPr>
        <p:spPr>
          <a:xfrm>
            <a:off x="2569464" y="3127248"/>
            <a:ext cx="1307592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>
                <a:solidFill>
                  <a:srgbClr val="667085"/>
                </a:solidFill>
              </a:rPr>
              <a:t>Direct ambiguity extraction</a:t>
            </a:r>
            <a:endParaRPr lang="en-US" sz="1150"/>
          </a:p>
        </p:txBody>
      </p:sp>
      <p:sp>
        <p:nvSpPr>
          <p:cNvPr id="13" name="Shape 11"/>
          <p:cNvSpPr/>
          <p:nvPr/>
        </p:nvSpPr>
        <p:spPr>
          <a:xfrm>
            <a:off x="4023360" y="3063240"/>
            <a:ext cx="274320" cy="1"/>
          </a:xfrm>
          <a:prstGeom prst="line">
            <a:avLst/>
          </a:prstGeom>
          <a:noFill/>
          <a:ln w="25400">
            <a:solidFill>
              <a:srgbClr val="4E84C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43400" y="1828800"/>
            <a:ext cx="1600200" cy="25146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CBD8E5"/>
            </a:solidFill>
            <a:prstDash val="solid"/>
          </a:ln>
          <a:effectLst/>
        </p:spPr>
      </p:sp>
      <p:sp>
        <p:nvSpPr>
          <p:cNvPr id="15" name="Text 13"/>
          <p:cNvSpPr/>
          <p:nvPr/>
        </p:nvSpPr>
        <p:spPr>
          <a:xfrm>
            <a:off x="4480560" y="1993392"/>
            <a:ext cx="292608" cy="292608"/>
          </a:xfrm>
          <a:prstGeom prst="ellipse">
            <a:avLst/>
          </a:prstGeom>
          <a:solidFill>
            <a:srgbClr val="4E84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</a:rPr>
              <a:t>3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4480560" y="254203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111827"/>
                </a:solidFill>
              </a:rPr>
              <a:t>Normalize</a:t>
            </a:r>
            <a:endParaRPr lang="en-US" sz="1700"/>
          </a:p>
        </p:txBody>
      </p:sp>
      <p:sp>
        <p:nvSpPr>
          <p:cNvPr id="17" name="Text 15"/>
          <p:cNvSpPr/>
          <p:nvPr/>
        </p:nvSpPr>
        <p:spPr>
          <a:xfrm>
            <a:off x="4489704" y="3127248"/>
            <a:ext cx="1307592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>
                <a:solidFill>
                  <a:srgbClr val="667085"/>
                </a:solidFill>
              </a:rPr>
              <a:t>Canonical requirement IR</a:t>
            </a:r>
            <a:endParaRPr lang="en-US" sz="1150"/>
          </a:p>
        </p:txBody>
      </p:sp>
      <p:sp>
        <p:nvSpPr>
          <p:cNvPr id="18" name="Shape 16"/>
          <p:cNvSpPr/>
          <p:nvPr/>
        </p:nvSpPr>
        <p:spPr>
          <a:xfrm>
            <a:off x="5943600" y="3063240"/>
            <a:ext cx="274320" cy="1"/>
          </a:xfrm>
          <a:prstGeom prst="line">
            <a:avLst/>
          </a:prstGeom>
          <a:noFill/>
          <a:ln w="25400">
            <a:solidFill>
              <a:srgbClr val="4E84C4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63640" y="1828800"/>
            <a:ext cx="1600200" cy="25146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CBD8E5"/>
            </a:solidFill>
            <a:prstDash val="solid"/>
          </a:ln>
          <a:effectLst/>
        </p:spPr>
      </p:sp>
      <p:sp>
        <p:nvSpPr>
          <p:cNvPr id="20" name="Text 18"/>
          <p:cNvSpPr/>
          <p:nvPr/>
        </p:nvSpPr>
        <p:spPr>
          <a:xfrm>
            <a:off x="6400800" y="1993392"/>
            <a:ext cx="292608" cy="292608"/>
          </a:xfrm>
          <a:prstGeom prst="ellipse">
            <a:avLst/>
          </a:prstGeom>
          <a:solidFill>
            <a:srgbClr val="4E84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</a:rPr>
              <a:t>4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6400800" y="254203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111827"/>
                </a:solidFill>
              </a:rPr>
              <a:t>Formalize</a:t>
            </a:r>
            <a:endParaRPr lang="en-US" sz="1700"/>
          </a:p>
        </p:txBody>
      </p:sp>
      <p:sp>
        <p:nvSpPr>
          <p:cNvPr id="22" name="Text 20"/>
          <p:cNvSpPr/>
          <p:nvPr/>
        </p:nvSpPr>
        <p:spPr>
          <a:xfrm>
            <a:off x="6409944" y="3127248"/>
            <a:ext cx="1307592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>
                <a:solidFill>
                  <a:srgbClr val="667085"/>
                </a:solidFill>
              </a:rPr>
              <a:t>Lean + first-order logic</a:t>
            </a:r>
            <a:endParaRPr lang="en-US" sz="1150"/>
          </a:p>
        </p:txBody>
      </p:sp>
      <p:sp>
        <p:nvSpPr>
          <p:cNvPr id="23" name="Shape 21"/>
          <p:cNvSpPr/>
          <p:nvPr/>
        </p:nvSpPr>
        <p:spPr>
          <a:xfrm>
            <a:off x="7863840" y="3063240"/>
            <a:ext cx="274320" cy="1"/>
          </a:xfrm>
          <a:prstGeom prst="line">
            <a:avLst/>
          </a:prstGeom>
          <a:noFill/>
          <a:ln w="25400">
            <a:solidFill>
              <a:srgbClr val="4E84C4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183880" y="1828800"/>
            <a:ext cx="1600200" cy="2514600"/>
          </a:xfrm>
          <a:prstGeom prst="roundRect">
            <a:avLst>
              <a:gd name="adj" fmla="val 4571"/>
            </a:avLst>
          </a:prstGeom>
          <a:solidFill>
            <a:srgbClr val="FFF7E6"/>
          </a:solidFill>
          <a:ln w="25400">
            <a:solidFill>
              <a:srgbClr val="FBB034"/>
            </a:solidFill>
            <a:prstDash val="solid"/>
          </a:ln>
          <a:effectLst/>
        </p:spPr>
      </p:sp>
      <p:sp>
        <p:nvSpPr>
          <p:cNvPr id="25" name="Text 23"/>
          <p:cNvSpPr/>
          <p:nvPr/>
        </p:nvSpPr>
        <p:spPr>
          <a:xfrm>
            <a:off x="8321040" y="1993392"/>
            <a:ext cx="292608" cy="292608"/>
          </a:xfrm>
          <a:prstGeom prst="ellipse">
            <a:avLst/>
          </a:prstGeom>
          <a:solidFill>
            <a:srgbClr val="FBB03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</a:rPr>
              <a:t>5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8321040" y="254203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111827"/>
                </a:solidFill>
              </a:rPr>
              <a:t>Verify</a:t>
            </a:r>
            <a:endParaRPr lang="en-US" sz="1700"/>
          </a:p>
        </p:txBody>
      </p:sp>
      <p:sp>
        <p:nvSpPr>
          <p:cNvPr id="27" name="Text 25"/>
          <p:cNvSpPr/>
          <p:nvPr/>
        </p:nvSpPr>
        <p:spPr>
          <a:xfrm>
            <a:off x="8330184" y="3127248"/>
            <a:ext cx="1307592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>
                <a:solidFill>
                  <a:srgbClr val="667085"/>
                </a:solidFill>
              </a:rPr>
              <a:t>Fixed theorem templates</a:t>
            </a:r>
            <a:endParaRPr lang="en-US" sz="1150"/>
          </a:p>
        </p:txBody>
      </p:sp>
      <p:sp>
        <p:nvSpPr>
          <p:cNvPr id="28" name="Shape 26"/>
          <p:cNvSpPr/>
          <p:nvPr/>
        </p:nvSpPr>
        <p:spPr>
          <a:xfrm>
            <a:off x="9784080" y="3063240"/>
            <a:ext cx="274320" cy="1"/>
          </a:xfrm>
          <a:prstGeom prst="line">
            <a:avLst/>
          </a:prstGeom>
          <a:noFill/>
          <a:ln w="25400">
            <a:solidFill>
              <a:srgbClr val="4E84C4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104120" y="1828800"/>
            <a:ext cx="1600200" cy="25146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CBD8E5"/>
            </a:solidFill>
            <a:prstDash val="solid"/>
          </a:ln>
          <a:effectLst/>
        </p:spPr>
      </p:sp>
      <p:sp>
        <p:nvSpPr>
          <p:cNvPr id="30" name="Text 28"/>
          <p:cNvSpPr/>
          <p:nvPr/>
        </p:nvSpPr>
        <p:spPr>
          <a:xfrm>
            <a:off x="10241280" y="1993392"/>
            <a:ext cx="292608" cy="292608"/>
          </a:xfrm>
          <a:prstGeom prst="ellipse">
            <a:avLst/>
          </a:prstGeom>
          <a:solidFill>
            <a:srgbClr val="4E84C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</a:rPr>
              <a:t>6</a:t>
            </a: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10241280" y="254203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111827"/>
                </a:solidFill>
              </a:rPr>
              <a:t>Explain</a:t>
            </a:r>
            <a:endParaRPr lang="en-US" sz="1700"/>
          </a:p>
        </p:txBody>
      </p:sp>
      <p:sp>
        <p:nvSpPr>
          <p:cNvPr id="32" name="Text 30"/>
          <p:cNvSpPr/>
          <p:nvPr/>
        </p:nvSpPr>
        <p:spPr>
          <a:xfrm>
            <a:off x="10250424" y="3127248"/>
            <a:ext cx="1307592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>
                <a:solidFill>
                  <a:srgbClr val="667085"/>
                </a:solidFill>
              </a:rPr>
              <a:t>Evidence-linked findings</a:t>
            </a:r>
            <a:endParaRPr lang="en-US" sz="1150"/>
          </a:p>
        </p:txBody>
      </p:sp>
      <p:sp>
        <p:nvSpPr>
          <p:cNvPr id="33" name="Shape 31"/>
          <p:cNvSpPr/>
          <p:nvPr/>
        </p:nvSpPr>
        <p:spPr>
          <a:xfrm>
            <a:off x="502920" y="5897880"/>
            <a:ext cx="11064240" cy="411480"/>
          </a:xfrm>
          <a:prstGeom prst="roundRect">
            <a:avLst>
              <a:gd name="adj" fmla="val 26667"/>
            </a:avLst>
          </a:prstGeom>
          <a:solidFill>
            <a:srgbClr val="EEF4FA"/>
          </a:solidFill>
          <a:ln w="12700">
            <a:solidFill>
              <a:srgbClr val="D5E2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5998464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E84C4"/>
                </a:solidFill>
              </a:rPr>
              <a:t>Design principle: fixed schemas at runtime reduce generation freedom and improve consistency.</a:t>
            </a:r>
            <a:endParaRPr lang="en-US" sz="120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75488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Architecture: major boxes and modules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493776" y="859536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67085"/>
                </a:solidFill>
              </a:rPr>
              <a:t>A modular pipeline preserves traceability from source text to proof result.</a:t>
            </a:r>
            <a:endParaRPr lang="en-US" sz="125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148840" cy="4480560"/>
          </a:xfrm>
          <a:prstGeom prst="roundRect">
            <a:avLst>
              <a:gd name="adj" fmla="val 3404"/>
            </a:avLst>
          </a:prstGeom>
          <a:solidFill>
            <a:srgbClr val="EAF2FB"/>
          </a:solidFill>
          <a:ln w="12700">
            <a:solidFill>
              <a:srgbClr val="CAD6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618488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11827"/>
                </a:solidFill>
              </a:rPr>
              <a:t>A. Understand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667512" y="2194560"/>
            <a:ext cx="1819656" cy="557784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2368296"/>
            <a:ext cx="1636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>
                <a:solidFill>
                  <a:srgbClr val="667085"/>
                </a:solidFill>
              </a:rPr>
              <a:t>Document parser</a:t>
            </a:r>
            <a:endParaRPr lang="en-US" sz="1080"/>
          </a:p>
        </p:txBody>
      </p:sp>
      <p:sp>
        <p:nvSpPr>
          <p:cNvPr id="8" name="Shape 6"/>
          <p:cNvSpPr/>
          <p:nvPr/>
        </p:nvSpPr>
        <p:spPr>
          <a:xfrm>
            <a:off x="667512" y="2980944"/>
            <a:ext cx="1819656" cy="557784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3154680"/>
            <a:ext cx="1636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>
                <a:solidFill>
                  <a:srgbClr val="667085"/>
                </a:solidFill>
              </a:rPr>
              <a:t>Context builder</a:t>
            </a:r>
            <a:endParaRPr lang="en-US" sz="1080"/>
          </a:p>
        </p:txBody>
      </p:sp>
      <p:sp>
        <p:nvSpPr>
          <p:cNvPr id="10" name="Shape 8"/>
          <p:cNvSpPr/>
          <p:nvPr/>
        </p:nvSpPr>
        <p:spPr>
          <a:xfrm>
            <a:off x="667512" y="3767328"/>
            <a:ext cx="1819656" cy="557784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3941064"/>
            <a:ext cx="1636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>
                <a:solidFill>
                  <a:srgbClr val="667085"/>
                </a:solidFill>
              </a:rPr>
              <a:t>Ambiguity extractor</a:t>
            </a:r>
            <a:endParaRPr lang="en-US" sz="1080"/>
          </a:p>
        </p:txBody>
      </p:sp>
      <p:sp>
        <p:nvSpPr>
          <p:cNvPr id="12" name="Shape 10"/>
          <p:cNvSpPr/>
          <p:nvPr/>
        </p:nvSpPr>
        <p:spPr>
          <a:xfrm>
            <a:off x="667512" y="4553712"/>
            <a:ext cx="1819656" cy="557784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4727448"/>
            <a:ext cx="1636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>
                <a:solidFill>
                  <a:srgbClr val="667085"/>
                </a:solidFill>
              </a:rPr>
              <a:t>Question + refinement</a:t>
            </a:r>
            <a:endParaRPr lang="en-US" sz="1080"/>
          </a:p>
        </p:txBody>
      </p:sp>
      <p:sp>
        <p:nvSpPr>
          <p:cNvPr id="14" name="Shape 12"/>
          <p:cNvSpPr/>
          <p:nvPr/>
        </p:nvSpPr>
        <p:spPr>
          <a:xfrm>
            <a:off x="2651760" y="3703320"/>
            <a:ext cx="109728" cy="1"/>
          </a:xfrm>
          <a:prstGeom prst="line">
            <a:avLst/>
          </a:prstGeom>
          <a:noFill/>
          <a:ln w="25400">
            <a:solidFill>
              <a:srgbClr val="4E84C4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816352" y="1417320"/>
            <a:ext cx="2148840" cy="4480560"/>
          </a:xfrm>
          <a:prstGeom prst="roundRect">
            <a:avLst>
              <a:gd name="adj" fmla="val 3404"/>
            </a:avLst>
          </a:prstGeom>
          <a:solidFill>
            <a:srgbClr val="F4F7FB"/>
          </a:solidFill>
          <a:ln w="12700">
            <a:solidFill>
              <a:srgbClr val="CAD6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71800" y="1618488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11827"/>
                </a:solidFill>
              </a:rPr>
              <a:t>B. Structure</a:t>
            </a:r>
            <a:endParaRPr lang="en-US" sz="1600"/>
          </a:p>
        </p:txBody>
      </p:sp>
      <p:sp>
        <p:nvSpPr>
          <p:cNvPr id="17" name="Shape 15"/>
          <p:cNvSpPr/>
          <p:nvPr/>
        </p:nvSpPr>
        <p:spPr>
          <a:xfrm>
            <a:off x="2980944" y="2194560"/>
            <a:ext cx="1819656" cy="557784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72384" y="2368296"/>
            <a:ext cx="1636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>
                <a:solidFill>
                  <a:srgbClr val="667085"/>
                </a:solidFill>
              </a:rPr>
              <a:t>Requirement classifier</a:t>
            </a:r>
            <a:endParaRPr lang="en-US" sz="1080"/>
          </a:p>
        </p:txBody>
      </p:sp>
      <p:sp>
        <p:nvSpPr>
          <p:cNvPr id="19" name="Shape 17"/>
          <p:cNvSpPr/>
          <p:nvPr/>
        </p:nvSpPr>
        <p:spPr>
          <a:xfrm>
            <a:off x="2980944" y="2980944"/>
            <a:ext cx="1819656" cy="557784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72384" y="3154680"/>
            <a:ext cx="1636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>
                <a:solidFill>
                  <a:srgbClr val="667085"/>
                </a:solidFill>
              </a:rPr>
              <a:t>Pattern mapper</a:t>
            </a:r>
            <a:endParaRPr lang="en-US" sz="1080"/>
          </a:p>
        </p:txBody>
      </p:sp>
      <p:sp>
        <p:nvSpPr>
          <p:cNvPr id="21" name="Shape 19"/>
          <p:cNvSpPr/>
          <p:nvPr/>
        </p:nvSpPr>
        <p:spPr>
          <a:xfrm>
            <a:off x="2980944" y="3767328"/>
            <a:ext cx="1819656" cy="557784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72384" y="3941064"/>
            <a:ext cx="1636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>
                <a:solidFill>
                  <a:srgbClr val="667085"/>
                </a:solidFill>
              </a:rPr>
              <a:t>Canonical IR</a:t>
            </a:r>
            <a:endParaRPr lang="en-US" sz="1080"/>
          </a:p>
        </p:txBody>
      </p:sp>
      <p:sp>
        <p:nvSpPr>
          <p:cNvPr id="23" name="Shape 21"/>
          <p:cNvSpPr/>
          <p:nvPr/>
        </p:nvSpPr>
        <p:spPr>
          <a:xfrm>
            <a:off x="2980944" y="4553712"/>
            <a:ext cx="1819656" cy="557784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72384" y="4727448"/>
            <a:ext cx="1636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>
                <a:solidFill>
                  <a:srgbClr val="667085"/>
                </a:solidFill>
              </a:rPr>
              <a:t>Entity / unit normalization</a:t>
            </a:r>
            <a:endParaRPr lang="en-US" sz="1080"/>
          </a:p>
        </p:txBody>
      </p:sp>
      <p:sp>
        <p:nvSpPr>
          <p:cNvPr id="25" name="Shape 23"/>
          <p:cNvSpPr/>
          <p:nvPr/>
        </p:nvSpPr>
        <p:spPr>
          <a:xfrm>
            <a:off x="4965192" y="3703320"/>
            <a:ext cx="109728" cy="1"/>
          </a:xfrm>
          <a:prstGeom prst="line">
            <a:avLst/>
          </a:prstGeom>
          <a:noFill/>
          <a:ln w="25400">
            <a:solidFill>
              <a:srgbClr val="4E84C4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129784" y="1417320"/>
            <a:ext cx="2148840" cy="4480560"/>
          </a:xfrm>
          <a:prstGeom prst="roundRect">
            <a:avLst>
              <a:gd name="adj" fmla="val 3404"/>
            </a:avLst>
          </a:prstGeom>
          <a:solidFill>
            <a:srgbClr val="FFF7E6"/>
          </a:solidFill>
          <a:ln w="25400">
            <a:solidFill>
              <a:srgbClr val="FBB03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85232" y="1618488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11827"/>
                </a:solidFill>
              </a:rPr>
              <a:t>C. Formalize</a:t>
            </a:r>
            <a:endParaRPr lang="en-US" sz="1600"/>
          </a:p>
        </p:txBody>
      </p:sp>
      <p:sp>
        <p:nvSpPr>
          <p:cNvPr id="28" name="Shape 26"/>
          <p:cNvSpPr/>
          <p:nvPr/>
        </p:nvSpPr>
        <p:spPr>
          <a:xfrm>
            <a:off x="5294376" y="2194560"/>
            <a:ext cx="1819656" cy="557784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85816" y="2368296"/>
            <a:ext cx="1636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>
                <a:solidFill>
                  <a:srgbClr val="667085"/>
                </a:solidFill>
              </a:rPr>
              <a:t>Lean preamble</a:t>
            </a:r>
            <a:endParaRPr lang="en-US" sz="1080"/>
          </a:p>
        </p:txBody>
      </p:sp>
      <p:sp>
        <p:nvSpPr>
          <p:cNvPr id="30" name="Shape 28"/>
          <p:cNvSpPr/>
          <p:nvPr/>
        </p:nvSpPr>
        <p:spPr>
          <a:xfrm>
            <a:off x="5294376" y="2980944"/>
            <a:ext cx="1819656" cy="557784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85816" y="3154680"/>
            <a:ext cx="1636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>
                <a:solidFill>
                  <a:srgbClr val="667085"/>
                </a:solidFill>
              </a:rPr>
              <a:t>Lean generator</a:t>
            </a:r>
            <a:endParaRPr lang="en-US" sz="1080"/>
          </a:p>
        </p:txBody>
      </p:sp>
      <p:sp>
        <p:nvSpPr>
          <p:cNvPr id="32" name="Shape 30"/>
          <p:cNvSpPr/>
          <p:nvPr/>
        </p:nvSpPr>
        <p:spPr>
          <a:xfrm>
            <a:off x="5294376" y="3767328"/>
            <a:ext cx="1819656" cy="557784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85816" y="3941064"/>
            <a:ext cx="1636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>
                <a:solidFill>
                  <a:srgbClr val="667085"/>
                </a:solidFill>
              </a:rPr>
              <a:t>FOL generator</a:t>
            </a:r>
            <a:endParaRPr lang="en-US" sz="1080"/>
          </a:p>
        </p:txBody>
      </p:sp>
      <p:sp>
        <p:nvSpPr>
          <p:cNvPr id="34" name="Shape 32"/>
          <p:cNvSpPr/>
          <p:nvPr/>
        </p:nvSpPr>
        <p:spPr>
          <a:xfrm>
            <a:off x="5294376" y="4553712"/>
            <a:ext cx="1819656" cy="557784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85816" y="4727448"/>
            <a:ext cx="1636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>
                <a:solidFill>
                  <a:srgbClr val="667085"/>
                </a:solidFill>
              </a:rPr>
              <a:t>Assembler</a:t>
            </a:r>
            <a:endParaRPr lang="en-US" sz="1080"/>
          </a:p>
        </p:txBody>
      </p:sp>
      <p:sp>
        <p:nvSpPr>
          <p:cNvPr id="36" name="Shape 34"/>
          <p:cNvSpPr/>
          <p:nvPr/>
        </p:nvSpPr>
        <p:spPr>
          <a:xfrm>
            <a:off x="7278624" y="3703320"/>
            <a:ext cx="109728" cy="1"/>
          </a:xfrm>
          <a:prstGeom prst="line">
            <a:avLst/>
          </a:prstGeom>
          <a:noFill/>
          <a:ln w="25400">
            <a:solidFill>
              <a:srgbClr val="4E84C4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443216" y="1417320"/>
            <a:ext cx="2148840" cy="4480560"/>
          </a:xfrm>
          <a:prstGeom prst="roundRect">
            <a:avLst>
              <a:gd name="adj" fmla="val 3404"/>
            </a:avLst>
          </a:prstGeom>
          <a:solidFill>
            <a:srgbClr val="EEF8F2"/>
          </a:solidFill>
          <a:ln w="12700">
            <a:solidFill>
              <a:srgbClr val="CAD6E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98664" y="1618488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11827"/>
                </a:solidFill>
              </a:rPr>
              <a:t>D. Verify</a:t>
            </a:r>
            <a:endParaRPr lang="en-US" sz="1600"/>
          </a:p>
        </p:txBody>
      </p:sp>
      <p:sp>
        <p:nvSpPr>
          <p:cNvPr id="39" name="Shape 37"/>
          <p:cNvSpPr/>
          <p:nvPr/>
        </p:nvSpPr>
        <p:spPr>
          <a:xfrm>
            <a:off x="7607808" y="2194560"/>
            <a:ext cx="1819656" cy="557784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99248" y="2368296"/>
            <a:ext cx="1636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>
                <a:solidFill>
                  <a:srgbClr val="667085"/>
                </a:solidFill>
              </a:rPr>
              <a:t>15 theorem templates</a:t>
            </a:r>
            <a:endParaRPr lang="en-US" sz="1080"/>
          </a:p>
        </p:txBody>
      </p:sp>
      <p:sp>
        <p:nvSpPr>
          <p:cNvPr id="41" name="Shape 39"/>
          <p:cNvSpPr/>
          <p:nvPr/>
        </p:nvSpPr>
        <p:spPr>
          <a:xfrm>
            <a:off x="7607808" y="2980944"/>
            <a:ext cx="1819656" cy="557784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99248" y="3154680"/>
            <a:ext cx="1636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>
                <a:solidFill>
                  <a:srgbClr val="667085"/>
                </a:solidFill>
              </a:rPr>
              <a:t>Lean compiler</a:t>
            </a:r>
            <a:endParaRPr lang="en-US" sz="1080"/>
          </a:p>
        </p:txBody>
      </p:sp>
      <p:sp>
        <p:nvSpPr>
          <p:cNvPr id="43" name="Shape 41"/>
          <p:cNvSpPr/>
          <p:nvPr/>
        </p:nvSpPr>
        <p:spPr>
          <a:xfrm>
            <a:off x="7607808" y="3767328"/>
            <a:ext cx="1819656" cy="557784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99248" y="3941064"/>
            <a:ext cx="1636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>
                <a:solidFill>
                  <a:srgbClr val="667085"/>
                </a:solidFill>
              </a:rPr>
              <a:t>FOL reasoner</a:t>
            </a:r>
            <a:endParaRPr lang="en-US" sz="1080"/>
          </a:p>
        </p:txBody>
      </p:sp>
      <p:sp>
        <p:nvSpPr>
          <p:cNvPr id="45" name="Shape 43"/>
          <p:cNvSpPr/>
          <p:nvPr/>
        </p:nvSpPr>
        <p:spPr>
          <a:xfrm>
            <a:off x="7607808" y="4553712"/>
            <a:ext cx="1819656" cy="557784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99248" y="4727448"/>
            <a:ext cx="1636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>
                <a:solidFill>
                  <a:srgbClr val="667085"/>
                </a:solidFill>
              </a:rPr>
              <a:t>Witness / conflict mapper</a:t>
            </a:r>
            <a:endParaRPr lang="en-US" sz="1080"/>
          </a:p>
        </p:txBody>
      </p:sp>
      <p:sp>
        <p:nvSpPr>
          <p:cNvPr id="47" name="Shape 45"/>
          <p:cNvSpPr/>
          <p:nvPr/>
        </p:nvSpPr>
        <p:spPr>
          <a:xfrm>
            <a:off x="9592056" y="3703320"/>
            <a:ext cx="109728" cy="1"/>
          </a:xfrm>
          <a:prstGeom prst="line">
            <a:avLst/>
          </a:prstGeom>
          <a:noFill/>
          <a:ln w="25400">
            <a:solidFill>
              <a:srgbClr val="4E84C4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9756648" y="1417320"/>
            <a:ext cx="1920240" cy="4480560"/>
          </a:xfrm>
          <a:prstGeom prst="roundRect">
            <a:avLst>
              <a:gd name="adj" fmla="val 3810"/>
            </a:avLst>
          </a:prstGeom>
          <a:solidFill>
            <a:srgbClr val="F8F4FC"/>
          </a:solidFill>
          <a:ln w="12700">
            <a:solidFill>
              <a:srgbClr val="CAD6E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912096" y="1618488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11827"/>
                </a:solidFill>
              </a:rPr>
              <a:t>E. Present</a:t>
            </a:r>
            <a:endParaRPr lang="en-US" sz="1600"/>
          </a:p>
        </p:txBody>
      </p:sp>
      <p:sp>
        <p:nvSpPr>
          <p:cNvPr id="50" name="Shape 48"/>
          <p:cNvSpPr/>
          <p:nvPr/>
        </p:nvSpPr>
        <p:spPr>
          <a:xfrm>
            <a:off x="9921240" y="2194560"/>
            <a:ext cx="1591056" cy="557784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012680" y="2368296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>
                <a:solidFill>
                  <a:srgbClr val="667085"/>
                </a:solidFill>
              </a:rPr>
              <a:t>Finding deduplication</a:t>
            </a:r>
            <a:endParaRPr lang="en-US" sz="1080"/>
          </a:p>
        </p:txBody>
      </p:sp>
      <p:sp>
        <p:nvSpPr>
          <p:cNvPr id="52" name="Shape 50"/>
          <p:cNvSpPr/>
          <p:nvPr/>
        </p:nvSpPr>
        <p:spPr>
          <a:xfrm>
            <a:off x="9921240" y="2980944"/>
            <a:ext cx="1591056" cy="557784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012680" y="3154680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>
                <a:solidFill>
                  <a:srgbClr val="667085"/>
                </a:solidFill>
              </a:rPr>
              <a:t>Evidence trace</a:t>
            </a:r>
            <a:endParaRPr lang="en-US" sz="1080"/>
          </a:p>
        </p:txBody>
      </p:sp>
      <p:sp>
        <p:nvSpPr>
          <p:cNvPr id="54" name="Shape 52"/>
          <p:cNvSpPr/>
          <p:nvPr/>
        </p:nvSpPr>
        <p:spPr>
          <a:xfrm>
            <a:off x="9921240" y="3767328"/>
            <a:ext cx="1591056" cy="557784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012680" y="3941064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>
                <a:solidFill>
                  <a:srgbClr val="667085"/>
                </a:solidFill>
              </a:rPr>
              <a:t>Severity + explanation</a:t>
            </a:r>
            <a:endParaRPr lang="en-US" sz="1080"/>
          </a:p>
        </p:txBody>
      </p:sp>
      <p:sp>
        <p:nvSpPr>
          <p:cNvPr id="56" name="Shape 54"/>
          <p:cNvSpPr/>
          <p:nvPr/>
        </p:nvSpPr>
        <p:spPr>
          <a:xfrm>
            <a:off x="9921240" y="4553712"/>
            <a:ext cx="1591056" cy="557784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012680" y="4727448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>
                <a:solidFill>
                  <a:srgbClr val="667085"/>
                </a:solidFill>
              </a:rPr>
              <a:t>UI / report</a:t>
            </a:r>
            <a:endParaRPr lang="en-US" sz="1080"/>
          </a:p>
        </p:txBody>
      </p:sp>
      <p:sp>
        <p:nvSpPr>
          <p:cNvPr id="5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75488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Step 1: find direct ambiguity before formalization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493776" y="859536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67085"/>
                </a:solidFill>
              </a:rPr>
              <a:t>The system isolates uncertain language and asks focused questions without rewriting the author’s intent.</a:t>
            </a:r>
            <a:endParaRPr lang="en-US" sz="125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063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FEA"/>
            </a:solidFill>
            <a:prstDash val="solid"/>
          </a:ln>
          <a:effectLst/>
        </p:spPr>
      </p:sp>
      <p:sp>
        <p:nvSpPr>
          <p:cNvPr id="5" name="Shape 3"/>
          <p:cNvSpPr/>
          <p:nvPr/>
        </p:nvSpPr>
        <p:spPr>
          <a:xfrm>
            <a:off x="594360" y="1417320"/>
            <a:ext cx="73152" cy="1828800"/>
          </a:xfrm>
          <a:prstGeom prst="rect">
            <a:avLst/>
          </a:prstGeom>
          <a:solidFill>
            <a:srgbClr val="4E84C4"/>
          </a:solidFill>
          <a:ln w="12700">
            <a:solidFill>
              <a:srgbClr val="4E84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81912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11827"/>
                </a:solidFill>
              </a:rPr>
              <a:t>Input requirement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822960" y="1947672"/>
            <a:ext cx="2679192" cy="11704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“The system shall respond quickly to critical requests.”</a:t>
            </a:r>
            <a:endParaRPr lang="en-US" sz="1150"/>
          </a:p>
        </p:txBody>
      </p:sp>
      <p:sp>
        <p:nvSpPr>
          <p:cNvPr id="8" name="Shape 6"/>
          <p:cNvSpPr/>
          <p:nvPr/>
        </p:nvSpPr>
        <p:spPr>
          <a:xfrm>
            <a:off x="3749040" y="2331720"/>
            <a:ext cx="685800" cy="1"/>
          </a:xfrm>
          <a:prstGeom prst="line">
            <a:avLst/>
          </a:prstGeom>
          <a:noFill/>
          <a:ln w="25400">
            <a:solidFill>
              <a:srgbClr val="4E84C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26280" y="1417320"/>
            <a:ext cx="3063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FEA"/>
            </a:solidFill>
            <a:prstDash val="solid"/>
          </a:ln>
          <a:effectLst/>
        </p:spPr>
      </p:sp>
      <p:sp>
        <p:nvSpPr>
          <p:cNvPr id="10" name="Shape 8"/>
          <p:cNvSpPr/>
          <p:nvPr/>
        </p:nvSpPr>
        <p:spPr>
          <a:xfrm>
            <a:off x="4526280" y="1417320"/>
            <a:ext cx="73152" cy="1828800"/>
          </a:xfrm>
          <a:prstGeom prst="rect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581912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11827"/>
                </a:solidFill>
              </a:rPr>
              <a:t>Ambiguity finding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4754880" y="1947672"/>
            <a:ext cx="2679192" cy="11704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Term: “quickly”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Type: measurable threshold missing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Impact: acceptance cannot be tested</a:t>
            </a:r>
            <a:endParaRPr lang="en-US" sz="1150"/>
          </a:p>
        </p:txBody>
      </p:sp>
      <p:sp>
        <p:nvSpPr>
          <p:cNvPr id="13" name="Shape 11"/>
          <p:cNvSpPr/>
          <p:nvPr/>
        </p:nvSpPr>
        <p:spPr>
          <a:xfrm>
            <a:off x="7680960" y="2331720"/>
            <a:ext cx="685800" cy="1"/>
          </a:xfrm>
          <a:prstGeom prst="line">
            <a:avLst/>
          </a:prstGeom>
          <a:noFill/>
          <a:ln w="25400">
            <a:solidFill>
              <a:srgbClr val="4E84C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458200" y="1417320"/>
            <a:ext cx="3063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FEA"/>
            </a:solidFill>
            <a:prstDash val="solid"/>
          </a:ln>
          <a:effectLst/>
        </p:spPr>
      </p:sp>
      <p:sp>
        <p:nvSpPr>
          <p:cNvPr id="15" name="Shape 13"/>
          <p:cNvSpPr/>
          <p:nvPr/>
        </p:nvSpPr>
        <p:spPr>
          <a:xfrm>
            <a:off x="8458200" y="1417320"/>
            <a:ext cx="73152" cy="1828800"/>
          </a:xfrm>
          <a:prstGeom prst="rect">
            <a:avLst/>
          </a:prstGeom>
          <a:solidFill>
            <a:srgbClr val="FBB034"/>
          </a:solidFill>
          <a:ln w="12700">
            <a:solidFill>
              <a:srgbClr val="FBB0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0" y="1581912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11827"/>
                </a:solidFill>
              </a:rPr>
              <a:t>Focused clarification</a:t>
            </a:r>
            <a:endParaRPr lang="en-US" sz="1500"/>
          </a:p>
        </p:txBody>
      </p:sp>
      <p:sp>
        <p:nvSpPr>
          <p:cNvPr id="17" name="Text 15"/>
          <p:cNvSpPr/>
          <p:nvPr/>
        </p:nvSpPr>
        <p:spPr>
          <a:xfrm>
            <a:off x="8686800" y="1947672"/>
            <a:ext cx="2679192" cy="11704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“What maximum response time applies to critical requests?”</a:t>
            </a:r>
            <a:endParaRPr lang="en-US" sz="1150"/>
          </a:p>
        </p:txBody>
      </p:sp>
      <p:sp>
        <p:nvSpPr>
          <p:cNvPr id="18" name="Shape 16"/>
          <p:cNvSpPr/>
          <p:nvPr/>
        </p:nvSpPr>
        <p:spPr>
          <a:xfrm>
            <a:off x="1097280" y="3977640"/>
            <a:ext cx="9966960" cy="1325880"/>
          </a:xfrm>
          <a:prstGeom prst="roundRect">
            <a:avLst>
              <a:gd name="adj" fmla="val 6897"/>
            </a:avLst>
          </a:prstGeom>
          <a:solidFill>
            <a:srgbClr val="F4F7FB"/>
          </a:solidFill>
          <a:ln w="12700">
            <a:solidFill>
              <a:srgbClr val="D5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42702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11827"/>
                </a:solidFill>
              </a:rPr>
              <a:t>Output of this stage</a:t>
            </a:r>
            <a:endParaRPr lang="en-US" sz="1500"/>
          </a:p>
        </p:txBody>
      </p:sp>
      <p:sp>
        <p:nvSpPr>
          <p:cNvPr id="20" name="Text 18"/>
          <p:cNvSpPr/>
          <p:nvPr/>
        </p:nvSpPr>
        <p:spPr>
          <a:xfrm>
            <a:off x="3337560" y="422452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4E84C4"/>
                </a:solidFill>
              </a:rPr>
              <a:t>Refined requirement + unresolved ambiguity record + updated context + source trace</a:t>
            </a:r>
            <a:endParaRPr lang="en-US" sz="1400"/>
          </a:p>
        </p:txBody>
      </p:sp>
      <p:sp>
        <p:nvSpPr>
          <p:cNvPr id="21" name="Shape 19"/>
          <p:cNvSpPr/>
          <p:nvPr/>
        </p:nvSpPr>
        <p:spPr>
          <a:xfrm>
            <a:off x="502920" y="5897880"/>
            <a:ext cx="11064240" cy="411480"/>
          </a:xfrm>
          <a:prstGeom prst="roundRect">
            <a:avLst>
              <a:gd name="adj" fmla="val 26667"/>
            </a:avLst>
          </a:prstGeom>
          <a:solidFill>
            <a:srgbClr val="EEF4FA"/>
          </a:solidFill>
          <a:ln w="12700">
            <a:solidFill>
              <a:srgbClr val="D5E2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998464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E84C4"/>
                </a:solidFill>
              </a:rPr>
              <a:t>Scope choice: target direct, actionable ambiguities first rather than claiming complete natural-language understanding.</a:t>
            </a:r>
            <a:endParaRPr lang="en-US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75488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Step 2: dual formalization with Lean and first-order logic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493776" y="859536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67085"/>
                </a:solidFill>
              </a:rPr>
              <a:t>Two complementary representations support executable proof and semantic cross-checking.</a:t>
            </a:r>
            <a:endParaRPr lang="en-US" sz="125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2743200" cy="41605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5DFEA"/>
            </a:solidFill>
            <a:prstDash val="solid"/>
          </a:ln>
          <a:effectLst/>
        </p:spPr>
      </p:sp>
      <p:sp>
        <p:nvSpPr>
          <p:cNvPr id="5" name="Shape 3"/>
          <p:cNvSpPr/>
          <p:nvPr/>
        </p:nvSpPr>
        <p:spPr>
          <a:xfrm>
            <a:off x="640080" y="1417320"/>
            <a:ext cx="73152" cy="4160520"/>
          </a:xfrm>
          <a:prstGeom prst="rect">
            <a:avLst/>
          </a:prstGeom>
          <a:solidFill>
            <a:srgbClr val="4E84C4"/>
          </a:solidFill>
          <a:ln w="12700">
            <a:solidFill>
              <a:srgbClr val="4E84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8191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11827"/>
                </a:solidFill>
              </a:rPr>
              <a:t>Canonical requirement IR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868680" y="1947672"/>
            <a:ext cx="2359152" cy="3502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Actor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Trigger / guard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Action / effect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Object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Modality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Bounds and units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Exceptions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Source evidence</a:t>
            </a:r>
            <a:endParaRPr lang="en-US" sz="1150"/>
          </a:p>
        </p:txBody>
      </p:sp>
      <p:sp>
        <p:nvSpPr>
          <p:cNvPr id="8" name="Shape 6"/>
          <p:cNvSpPr/>
          <p:nvPr/>
        </p:nvSpPr>
        <p:spPr>
          <a:xfrm flipV="1">
            <a:off x="3474720" y="2514600"/>
            <a:ext cx="777240" cy="868680"/>
          </a:xfrm>
          <a:prstGeom prst="line">
            <a:avLst/>
          </a:prstGeom>
          <a:noFill/>
          <a:ln w="25400">
            <a:solidFill>
              <a:srgbClr val="4E84C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74720" y="3383280"/>
            <a:ext cx="777240" cy="914400"/>
          </a:xfrm>
          <a:prstGeom prst="line">
            <a:avLst/>
          </a:prstGeom>
          <a:noFill/>
          <a:ln w="25400">
            <a:solidFill>
              <a:srgbClr val="4E84C4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43400" y="1325880"/>
            <a:ext cx="29718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DFEA"/>
            </a:solidFill>
            <a:prstDash val="solid"/>
          </a:ln>
          <a:effectLst/>
        </p:spPr>
      </p:sp>
      <p:sp>
        <p:nvSpPr>
          <p:cNvPr id="11" name="Shape 9"/>
          <p:cNvSpPr/>
          <p:nvPr/>
        </p:nvSpPr>
        <p:spPr>
          <a:xfrm>
            <a:off x="4343400" y="1325880"/>
            <a:ext cx="73152" cy="2011680"/>
          </a:xfrm>
          <a:prstGeom prst="rect">
            <a:avLst/>
          </a:prstGeom>
          <a:solidFill>
            <a:srgbClr val="FBB034"/>
          </a:solidFill>
          <a:ln w="12700">
            <a:solidFill>
              <a:srgbClr val="FBB0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490472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11827"/>
                </a:solidFill>
              </a:rPr>
              <a:t>Lean representation</a:t>
            </a:r>
            <a:endParaRPr lang="en-US" sz="1500"/>
          </a:p>
        </p:txBody>
      </p:sp>
      <p:sp>
        <p:nvSpPr>
          <p:cNvPr id="13" name="Text 11"/>
          <p:cNvSpPr/>
          <p:nvPr/>
        </p:nvSpPr>
        <p:spPr>
          <a:xfrm>
            <a:off x="4572000" y="1856232"/>
            <a:ext cx="2587752" cy="1353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Typed predicates, states, transitions and fixed proof obligations.</a:t>
            </a:r>
            <a:endParaRPr lang="en-US" sz="1150"/>
          </a:p>
          <a:p>
            <a:pPr marL="0" indent="0">
              <a:buNone/>
            </a:pP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Lean checks whether the proof term is valid.</a:t>
            </a:r>
            <a:endParaRPr lang="en-US" sz="1150"/>
          </a:p>
        </p:txBody>
      </p:sp>
      <p:sp>
        <p:nvSpPr>
          <p:cNvPr id="14" name="Shape 12"/>
          <p:cNvSpPr/>
          <p:nvPr/>
        </p:nvSpPr>
        <p:spPr>
          <a:xfrm>
            <a:off x="4343400" y="3657600"/>
            <a:ext cx="29718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DFEA"/>
            </a:solidFill>
            <a:prstDash val="solid"/>
          </a:ln>
          <a:effectLst/>
        </p:spPr>
      </p:sp>
      <p:sp>
        <p:nvSpPr>
          <p:cNvPr id="15" name="Shape 13"/>
          <p:cNvSpPr/>
          <p:nvPr/>
        </p:nvSpPr>
        <p:spPr>
          <a:xfrm>
            <a:off x="4343400" y="3657600"/>
            <a:ext cx="73152" cy="2011680"/>
          </a:xfrm>
          <a:prstGeom prst="rect">
            <a:avLst/>
          </a:prstGeom>
          <a:solidFill>
            <a:srgbClr val="4E84C4"/>
          </a:solidFill>
          <a:ln w="12700">
            <a:solidFill>
              <a:srgbClr val="4E84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3822192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11827"/>
                </a:solidFill>
              </a:rPr>
              <a:t>FOL representation</a:t>
            </a:r>
            <a:endParaRPr lang="en-US" sz="1500"/>
          </a:p>
        </p:txBody>
      </p:sp>
      <p:sp>
        <p:nvSpPr>
          <p:cNvPr id="17" name="Text 15"/>
          <p:cNvSpPr/>
          <p:nvPr/>
        </p:nvSpPr>
        <p:spPr>
          <a:xfrm>
            <a:off x="4572000" y="4187952"/>
            <a:ext cx="2587752" cy="1353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Predicates, quantifiers and logical constraints.</a:t>
            </a:r>
            <a:endParaRPr lang="en-US" sz="1150"/>
          </a:p>
          <a:p>
            <a:pPr marL="0" indent="0">
              <a:buNone/>
            </a:pP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FOL supports satisfiability and semantic comparison.</a:t>
            </a:r>
            <a:endParaRPr lang="en-US" sz="1150"/>
          </a:p>
        </p:txBody>
      </p:sp>
      <p:sp>
        <p:nvSpPr>
          <p:cNvPr id="18" name="Shape 16"/>
          <p:cNvSpPr/>
          <p:nvPr/>
        </p:nvSpPr>
        <p:spPr>
          <a:xfrm>
            <a:off x="7452360" y="2331720"/>
            <a:ext cx="777240" cy="640080"/>
          </a:xfrm>
          <a:prstGeom prst="line">
            <a:avLst/>
          </a:prstGeom>
          <a:noFill/>
          <a:ln w="25400">
            <a:solidFill>
              <a:srgbClr val="4E84C4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 flipV="1">
            <a:off x="7452360" y="3977640"/>
            <a:ext cx="777240" cy="640080"/>
          </a:xfrm>
          <a:prstGeom prst="line">
            <a:avLst/>
          </a:prstGeom>
          <a:noFill/>
          <a:ln w="25400">
            <a:solidFill>
              <a:srgbClr val="4E84C4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321040" y="1965960"/>
            <a:ext cx="31546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5DFEA"/>
            </a:solidFill>
            <a:prstDash val="solid"/>
          </a:ln>
          <a:effectLst/>
        </p:spPr>
      </p:sp>
      <p:sp>
        <p:nvSpPr>
          <p:cNvPr id="21" name="Shape 19"/>
          <p:cNvSpPr/>
          <p:nvPr/>
        </p:nvSpPr>
        <p:spPr>
          <a:xfrm>
            <a:off x="8321040" y="1965960"/>
            <a:ext cx="73152" cy="3108960"/>
          </a:xfrm>
          <a:prstGeom prst="rect">
            <a:avLst/>
          </a:prstGeom>
          <a:solidFill>
            <a:srgbClr val="18864B"/>
          </a:solidFill>
          <a:ln w="12700">
            <a:solidFill>
              <a:srgbClr val="1886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49640" y="2130552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11827"/>
                </a:solidFill>
              </a:rPr>
              <a:t>Unified finding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8549640" y="2496312"/>
            <a:ext cx="2770632" cy="2450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Conflict type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Requirement IDs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Witness or counterexample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Proof / solver status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Explanation for reviewer</a:t>
            </a:r>
            <a:endParaRPr lang="en-US" sz="11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75488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Step 3: fixed verification templates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493776" y="859536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67085"/>
                </a:solidFill>
              </a:rPr>
              <a:t>The LLM selects a theorem type and fills premises. The proof structure stays controlled.</a:t>
            </a:r>
            <a:endParaRPr lang="en-US" sz="1250"/>
          </a:p>
        </p:txBody>
      </p:sp>
      <p:sp>
        <p:nvSpPr>
          <p:cNvPr id="4" name="Shape 2"/>
          <p:cNvSpPr/>
          <p:nvPr/>
        </p:nvSpPr>
        <p:spPr>
          <a:xfrm>
            <a:off x="502920" y="1444752"/>
            <a:ext cx="2084832" cy="36118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5DFEA"/>
            </a:solidFill>
            <a:prstDash val="solid"/>
          </a:ln>
          <a:effectLst/>
        </p:spPr>
      </p:sp>
      <p:sp>
        <p:nvSpPr>
          <p:cNvPr id="5" name="Shape 3"/>
          <p:cNvSpPr/>
          <p:nvPr/>
        </p:nvSpPr>
        <p:spPr>
          <a:xfrm>
            <a:off x="502920" y="1444752"/>
            <a:ext cx="73152" cy="3611880"/>
          </a:xfrm>
          <a:prstGeom prst="rect">
            <a:avLst/>
          </a:prstGeom>
          <a:solidFill>
            <a:srgbClr val="FBB034"/>
          </a:solidFill>
          <a:ln w="12700">
            <a:solidFill>
              <a:srgbClr val="FBB0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09344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11827"/>
                </a:solidFill>
              </a:rPr>
              <a:t>Consistency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731520" y="1975104"/>
            <a:ext cx="1700784" cy="2953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Pairwise conflict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Global satisfiability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Minimal unsat core</a:t>
            </a:r>
            <a:endParaRPr lang="en-US" sz="1150"/>
          </a:p>
        </p:txBody>
      </p:sp>
      <p:sp>
        <p:nvSpPr>
          <p:cNvPr id="8" name="Shape 6"/>
          <p:cNvSpPr/>
          <p:nvPr/>
        </p:nvSpPr>
        <p:spPr>
          <a:xfrm>
            <a:off x="2816352" y="1444752"/>
            <a:ext cx="2084832" cy="36118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5DFEA"/>
            </a:solidFill>
            <a:prstDash val="solid"/>
          </a:ln>
          <a:effectLst/>
        </p:spPr>
      </p:sp>
      <p:sp>
        <p:nvSpPr>
          <p:cNvPr id="9" name="Shape 7"/>
          <p:cNvSpPr/>
          <p:nvPr/>
        </p:nvSpPr>
        <p:spPr>
          <a:xfrm>
            <a:off x="2816352" y="1444752"/>
            <a:ext cx="73152" cy="3611880"/>
          </a:xfrm>
          <a:prstGeom prst="rect">
            <a:avLst/>
          </a:prstGeom>
          <a:solidFill>
            <a:srgbClr val="4E84C4"/>
          </a:solidFill>
          <a:ln w="12700">
            <a:solidFill>
              <a:srgbClr val="4E8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4952" y="1609344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11827"/>
                </a:solidFill>
              </a:rPr>
              <a:t>Rule quality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3044952" y="1975104"/>
            <a:ext cx="1700784" cy="2953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Vacuity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Determinism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Redundancy</a:t>
            </a:r>
            <a:endParaRPr lang="en-US" sz="1150"/>
          </a:p>
        </p:txBody>
      </p:sp>
      <p:sp>
        <p:nvSpPr>
          <p:cNvPr id="12" name="Shape 10"/>
          <p:cNvSpPr/>
          <p:nvPr/>
        </p:nvSpPr>
        <p:spPr>
          <a:xfrm>
            <a:off x="5129784" y="1444752"/>
            <a:ext cx="2084832" cy="36118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5DFEA"/>
            </a:solidFill>
            <a:prstDash val="solid"/>
          </a:ln>
          <a:effectLst/>
        </p:spPr>
      </p:sp>
      <p:sp>
        <p:nvSpPr>
          <p:cNvPr id="13" name="Shape 11"/>
          <p:cNvSpPr/>
          <p:nvPr/>
        </p:nvSpPr>
        <p:spPr>
          <a:xfrm>
            <a:off x="5129784" y="1444752"/>
            <a:ext cx="73152" cy="3611880"/>
          </a:xfrm>
          <a:prstGeom prst="rect">
            <a:avLst/>
          </a:prstGeom>
          <a:solidFill>
            <a:srgbClr val="4E84C4"/>
          </a:solidFill>
          <a:ln w="12700">
            <a:solidFill>
              <a:srgbClr val="4E84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58384" y="1609344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11827"/>
                </a:solidFill>
              </a:rPr>
              <a:t>State &amp; time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5358384" y="1975104"/>
            <a:ext cx="1700784" cy="2953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Invariant conflict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Deadlock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Cyclic sequencing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Recoverability</a:t>
            </a:r>
            <a:endParaRPr lang="en-US" sz="1150"/>
          </a:p>
        </p:txBody>
      </p:sp>
      <p:sp>
        <p:nvSpPr>
          <p:cNvPr id="16" name="Shape 14"/>
          <p:cNvSpPr/>
          <p:nvPr/>
        </p:nvSpPr>
        <p:spPr>
          <a:xfrm>
            <a:off x="7443216" y="1444752"/>
            <a:ext cx="2084832" cy="36118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5DFEA"/>
            </a:solidFill>
            <a:prstDash val="solid"/>
          </a:ln>
          <a:effectLst/>
        </p:spPr>
      </p:sp>
      <p:sp>
        <p:nvSpPr>
          <p:cNvPr id="17" name="Shape 15"/>
          <p:cNvSpPr/>
          <p:nvPr/>
        </p:nvSpPr>
        <p:spPr>
          <a:xfrm>
            <a:off x="7443216" y="1444752"/>
            <a:ext cx="73152" cy="3611880"/>
          </a:xfrm>
          <a:prstGeom prst="rect">
            <a:avLst/>
          </a:prstGeom>
          <a:solidFill>
            <a:srgbClr val="4E84C4"/>
          </a:solidFill>
          <a:ln w="12700">
            <a:solidFill>
              <a:srgbClr val="4E84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71816" y="1609344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11827"/>
                </a:solidFill>
              </a:rPr>
              <a:t>Coverage &amp; limits</a:t>
            </a:r>
            <a:endParaRPr lang="en-US" sz="1500"/>
          </a:p>
        </p:txBody>
      </p:sp>
      <p:sp>
        <p:nvSpPr>
          <p:cNvPr id="19" name="Text 17"/>
          <p:cNvSpPr/>
          <p:nvPr/>
        </p:nvSpPr>
        <p:spPr>
          <a:xfrm>
            <a:off x="7671816" y="1975104"/>
            <a:ext cx="1700784" cy="2953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Range conflict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Partition gap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Resource overcommitment</a:t>
            </a:r>
            <a:endParaRPr lang="en-US" sz="1150"/>
          </a:p>
        </p:txBody>
      </p:sp>
      <p:sp>
        <p:nvSpPr>
          <p:cNvPr id="20" name="Shape 18"/>
          <p:cNvSpPr/>
          <p:nvPr/>
        </p:nvSpPr>
        <p:spPr>
          <a:xfrm>
            <a:off x="9756648" y="1444752"/>
            <a:ext cx="2084832" cy="36118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5DFEA"/>
            </a:solidFill>
            <a:prstDash val="solid"/>
          </a:ln>
          <a:effectLst/>
        </p:spPr>
      </p:sp>
      <p:sp>
        <p:nvSpPr>
          <p:cNvPr id="21" name="Shape 19"/>
          <p:cNvSpPr/>
          <p:nvPr/>
        </p:nvSpPr>
        <p:spPr>
          <a:xfrm>
            <a:off x="9756648" y="1444752"/>
            <a:ext cx="73152" cy="3611880"/>
          </a:xfrm>
          <a:prstGeom prst="rect">
            <a:avLst/>
          </a:prstGeom>
          <a:solidFill>
            <a:srgbClr val="4E84C4"/>
          </a:solidFill>
          <a:ln w="12700">
            <a:solidFill>
              <a:srgbClr val="4E84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85248" y="1609344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11827"/>
                </a:solidFill>
              </a:rPr>
              <a:t>Behavior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9985248" y="1975104"/>
            <a:ext cx="1700784" cy="2953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Separation of duty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Convergence / oscillation</a:t>
            </a:r>
            <a:endParaRPr lang="en-US" sz="1150"/>
          </a:p>
        </p:txBody>
      </p:sp>
      <p:sp>
        <p:nvSpPr>
          <p:cNvPr id="24" name="Shape 22"/>
          <p:cNvSpPr/>
          <p:nvPr/>
        </p:nvSpPr>
        <p:spPr>
          <a:xfrm>
            <a:off x="502920" y="5897880"/>
            <a:ext cx="11064240" cy="411480"/>
          </a:xfrm>
          <a:prstGeom prst="roundRect">
            <a:avLst>
              <a:gd name="adj" fmla="val 26667"/>
            </a:avLst>
          </a:prstGeom>
          <a:solidFill>
            <a:srgbClr val="EEF4FA"/>
          </a:solidFill>
          <a:ln w="12700">
            <a:solidFill>
              <a:srgbClr val="D5E2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998464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E84C4"/>
                </a:solidFill>
              </a:rPr>
              <a:t>A successful conflict proof means the instantiated premises jointly imply False.</a:t>
            </a:r>
            <a:endParaRPr lang="en-US" sz="120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75488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Example: from two requirements to a machine-checked contradiction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493776" y="859536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67085"/>
                </a:solidFill>
              </a:rPr>
              <a:t>The result is tied to explicit premises, not to the model’s confidence.</a:t>
            </a:r>
            <a:endParaRPr lang="en-US" sz="125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27889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DFEA"/>
            </a:solidFill>
            <a:prstDash val="solid"/>
          </a:ln>
          <a:effectLst/>
        </p:spPr>
      </p:sp>
      <p:sp>
        <p:nvSpPr>
          <p:cNvPr id="5" name="Shape 3"/>
          <p:cNvSpPr/>
          <p:nvPr/>
        </p:nvSpPr>
        <p:spPr>
          <a:xfrm>
            <a:off x="566928" y="1325880"/>
            <a:ext cx="73152" cy="1280160"/>
          </a:xfrm>
          <a:prstGeom prst="rect">
            <a:avLst/>
          </a:prstGeom>
          <a:solidFill>
            <a:srgbClr val="4E84C4"/>
          </a:solidFill>
          <a:ln w="12700">
            <a:solidFill>
              <a:srgbClr val="4E84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490472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11827"/>
                </a:solidFill>
              </a:rPr>
              <a:t>R1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795528" y="1856232"/>
            <a:ext cx="240487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Guest users must have access to download system log files.</a:t>
            </a:r>
            <a:endParaRPr lang="en-US" sz="1150"/>
          </a:p>
        </p:txBody>
      </p:sp>
      <p:sp>
        <p:nvSpPr>
          <p:cNvPr id="8" name="Shape 6"/>
          <p:cNvSpPr/>
          <p:nvPr/>
        </p:nvSpPr>
        <p:spPr>
          <a:xfrm>
            <a:off x="566928" y="2926080"/>
            <a:ext cx="27889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5DFEA"/>
            </a:solidFill>
            <a:prstDash val="solid"/>
          </a:ln>
          <a:effectLst/>
        </p:spPr>
      </p:sp>
      <p:sp>
        <p:nvSpPr>
          <p:cNvPr id="9" name="Shape 7"/>
          <p:cNvSpPr/>
          <p:nvPr/>
        </p:nvSpPr>
        <p:spPr>
          <a:xfrm>
            <a:off x="566928" y="2926080"/>
            <a:ext cx="73152" cy="1280160"/>
          </a:xfrm>
          <a:prstGeom prst="rect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3090672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11827"/>
                </a:solidFill>
              </a:rPr>
              <a:t>R2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795528" y="3456432"/>
            <a:ext cx="2404872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System log files can only be accessed by authenticated Admin users.</a:t>
            </a:r>
            <a:endParaRPr lang="en-US" sz="1150"/>
          </a:p>
        </p:txBody>
      </p:sp>
      <p:sp>
        <p:nvSpPr>
          <p:cNvPr id="12" name="Shape 10"/>
          <p:cNvSpPr/>
          <p:nvPr/>
        </p:nvSpPr>
        <p:spPr>
          <a:xfrm>
            <a:off x="3520440" y="2697480"/>
            <a:ext cx="731520" cy="1"/>
          </a:xfrm>
          <a:prstGeom prst="line">
            <a:avLst/>
          </a:prstGeom>
          <a:noFill/>
          <a:ln w="25400">
            <a:solidFill>
              <a:srgbClr val="4E84C4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370832" y="1280160"/>
            <a:ext cx="3794760" cy="3566160"/>
          </a:xfrm>
          <a:prstGeom prst="roundRect">
            <a:avLst>
              <a:gd name="adj" fmla="val 2051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/>
        </p:spPr>
      </p:sp>
      <p:sp>
        <p:nvSpPr>
          <p:cNvPr id="14" name="Text 12"/>
          <p:cNvSpPr/>
          <p:nvPr/>
        </p:nvSpPr>
        <p:spPr>
          <a:xfrm>
            <a:off x="4608576" y="1572768"/>
            <a:ext cx="3337560" cy="2971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EA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:= GuestCanDownloadLogs</a:t>
            </a:r>
            <a:endParaRPr lang="en-US" sz="1400"/>
          </a:p>
          <a:p>
            <a:pPr marL="0" indent="0">
              <a:buNone/>
            </a:pP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EA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hPos : P          -- from R1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EA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hNeg : ¬ P        -- from R2</a:t>
            </a:r>
            <a:endParaRPr lang="en-US" sz="1400"/>
          </a:p>
          <a:p>
            <a:pPr marL="0" indent="0">
              <a:buNone/>
            </a:pP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EA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theorem pairwise_conflict : False :=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EA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EA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exact hNeg hPos</a:t>
            </a:r>
            <a:endParaRPr lang="en-US" sz="1400"/>
          </a:p>
        </p:txBody>
      </p:sp>
      <p:sp>
        <p:nvSpPr>
          <p:cNvPr id="15" name="Shape 13"/>
          <p:cNvSpPr/>
          <p:nvPr/>
        </p:nvSpPr>
        <p:spPr>
          <a:xfrm>
            <a:off x="8321040" y="2697480"/>
            <a:ext cx="685800" cy="1"/>
          </a:xfrm>
          <a:prstGeom prst="line">
            <a:avLst/>
          </a:prstGeom>
          <a:noFill/>
          <a:ln w="25400">
            <a:solidFill>
              <a:srgbClr val="FBB034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125712" y="1600200"/>
            <a:ext cx="25146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5DFEA"/>
            </a:solidFill>
            <a:prstDash val="solid"/>
          </a:ln>
          <a:effectLst/>
        </p:spPr>
      </p:sp>
      <p:sp>
        <p:nvSpPr>
          <p:cNvPr id="17" name="Shape 15"/>
          <p:cNvSpPr/>
          <p:nvPr/>
        </p:nvSpPr>
        <p:spPr>
          <a:xfrm>
            <a:off x="9125712" y="1600200"/>
            <a:ext cx="73152" cy="2240280"/>
          </a:xfrm>
          <a:prstGeom prst="rect">
            <a:avLst/>
          </a:prstGeom>
          <a:solidFill>
            <a:srgbClr val="18864B"/>
          </a:solidFill>
          <a:ln w="12700">
            <a:solidFill>
              <a:srgbClr val="1886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54312" y="176479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11827"/>
                </a:solidFill>
              </a:rPr>
              <a:t>Verification result</a:t>
            </a:r>
            <a:endParaRPr lang="en-US" sz="1500"/>
          </a:p>
        </p:txBody>
      </p:sp>
      <p:sp>
        <p:nvSpPr>
          <p:cNvPr id="19" name="Text 17"/>
          <p:cNvSpPr/>
          <p:nvPr/>
        </p:nvSpPr>
        <p:spPr>
          <a:xfrm>
            <a:off x="9354312" y="2130552"/>
            <a:ext cx="2130552" cy="1581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Conflict confirmed</a:t>
            </a:r>
            <a:endParaRPr lang="en-US" sz="1150"/>
          </a:p>
          <a:p>
            <a:pPr marL="0" indent="0">
              <a:buNone/>
            </a:pP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Evidence: R1 + R2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Reason: P and ¬P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Outcome: model is inconsistent</a:t>
            </a:r>
            <a:endParaRPr lang="en-US" sz="1150"/>
          </a:p>
        </p:txBody>
      </p:sp>
      <p:sp>
        <p:nvSpPr>
          <p:cNvPr id="20" name="Shape 18"/>
          <p:cNvSpPr/>
          <p:nvPr/>
        </p:nvSpPr>
        <p:spPr>
          <a:xfrm>
            <a:off x="502920" y="5897880"/>
            <a:ext cx="11064240" cy="411480"/>
          </a:xfrm>
          <a:prstGeom prst="roundRect">
            <a:avLst>
              <a:gd name="adj" fmla="val 26667"/>
            </a:avLst>
          </a:prstGeom>
          <a:solidFill>
            <a:srgbClr val="EEF4FA"/>
          </a:solidFill>
          <a:ln w="12700">
            <a:solidFill>
              <a:srgbClr val="D5E2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5998464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E84C4"/>
                </a:solidFill>
              </a:rPr>
              <a:t>Lean verifies the proof; the application explains the defect in requirement-review language.</a:t>
            </a:r>
            <a:endParaRPr lang="en-US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75488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Demo: reviewer journey through the web application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493776" y="859536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67085"/>
                </a:solidFill>
              </a:rPr>
              <a:t>Replace the placeholders below with screenshots from the current UI before presenting.</a:t>
            </a:r>
            <a:endParaRPr lang="en-US" sz="125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3474720" cy="1691640"/>
          </a:xfrm>
          <a:prstGeom prst="roundRect">
            <a:avLst>
              <a:gd name="adj" fmla="val 3243"/>
            </a:avLst>
          </a:prstGeom>
          <a:solidFill>
            <a:srgbClr val="F4F7FB"/>
          </a:solidFill>
          <a:ln w="15240">
            <a:solidFill>
              <a:srgbClr val="B8CA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63040" y="18013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98A2B3"/>
                </a:solidFill>
              </a:rPr>
              <a:t>SCREENSHOT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758952" y="2560320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111827"/>
                </a:solidFill>
              </a:rPr>
              <a:t>1. Upload document</a:t>
            </a:r>
            <a:endParaRPr lang="en-US" sz="1250"/>
          </a:p>
        </p:txBody>
      </p:sp>
      <p:sp>
        <p:nvSpPr>
          <p:cNvPr id="7" name="Shape 5"/>
          <p:cNvSpPr/>
          <p:nvPr/>
        </p:nvSpPr>
        <p:spPr>
          <a:xfrm>
            <a:off x="4416552" y="1325880"/>
            <a:ext cx="3474720" cy="1691640"/>
          </a:xfrm>
          <a:prstGeom prst="roundRect">
            <a:avLst>
              <a:gd name="adj" fmla="val 3243"/>
            </a:avLst>
          </a:prstGeom>
          <a:solidFill>
            <a:srgbClr val="F4F7FB"/>
          </a:solidFill>
          <a:ln w="15240">
            <a:solidFill>
              <a:srgbClr val="B8CA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85232" y="18013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98A2B3"/>
                </a:solidFill>
              </a:rPr>
              <a:t>SCREENSHOT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4581144" y="2560320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111827"/>
                </a:solidFill>
              </a:rPr>
              <a:t>2. Review ambiguities</a:t>
            </a:r>
            <a:endParaRPr lang="en-US" sz="1250"/>
          </a:p>
        </p:txBody>
      </p:sp>
      <p:sp>
        <p:nvSpPr>
          <p:cNvPr id="10" name="Shape 8"/>
          <p:cNvSpPr/>
          <p:nvPr/>
        </p:nvSpPr>
        <p:spPr>
          <a:xfrm>
            <a:off x="8238744" y="1325880"/>
            <a:ext cx="3474720" cy="1691640"/>
          </a:xfrm>
          <a:prstGeom prst="roundRect">
            <a:avLst>
              <a:gd name="adj" fmla="val 3243"/>
            </a:avLst>
          </a:prstGeom>
          <a:solidFill>
            <a:srgbClr val="F4F7FB"/>
          </a:solidFill>
          <a:ln w="15240">
            <a:solidFill>
              <a:srgbClr val="B8CA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07424" y="18013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98A2B3"/>
                </a:solidFill>
              </a:rPr>
              <a:t>SCREENSHOT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8403336" y="2560320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111827"/>
                </a:solidFill>
              </a:rPr>
              <a:t>3. Inspect formalization</a:t>
            </a:r>
            <a:endParaRPr lang="en-US" sz="1250"/>
          </a:p>
        </p:txBody>
      </p:sp>
      <p:sp>
        <p:nvSpPr>
          <p:cNvPr id="13" name="Shape 11"/>
          <p:cNvSpPr/>
          <p:nvPr/>
        </p:nvSpPr>
        <p:spPr>
          <a:xfrm>
            <a:off x="594360" y="3566160"/>
            <a:ext cx="3474720" cy="1691640"/>
          </a:xfrm>
          <a:prstGeom prst="roundRect">
            <a:avLst>
              <a:gd name="adj" fmla="val 3243"/>
            </a:avLst>
          </a:prstGeom>
          <a:solidFill>
            <a:srgbClr val="FFF7E6"/>
          </a:solidFill>
          <a:ln w="15240">
            <a:solidFill>
              <a:srgbClr val="FBB0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40416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98A2B3"/>
                </a:solidFill>
              </a:rPr>
              <a:t>SCREENSHOT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758952" y="4800600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111827"/>
                </a:solidFill>
              </a:rPr>
              <a:t>4. Run verification</a:t>
            </a:r>
            <a:endParaRPr lang="en-US" sz="1250"/>
          </a:p>
        </p:txBody>
      </p:sp>
      <p:sp>
        <p:nvSpPr>
          <p:cNvPr id="16" name="Shape 14"/>
          <p:cNvSpPr/>
          <p:nvPr/>
        </p:nvSpPr>
        <p:spPr>
          <a:xfrm>
            <a:off x="4416552" y="3566160"/>
            <a:ext cx="3474720" cy="1691640"/>
          </a:xfrm>
          <a:prstGeom prst="roundRect">
            <a:avLst>
              <a:gd name="adj" fmla="val 3243"/>
            </a:avLst>
          </a:prstGeom>
          <a:solidFill>
            <a:srgbClr val="F4F7FB"/>
          </a:solidFill>
          <a:ln w="15240">
            <a:solidFill>
              <a:srgbClr val="B8CA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85232" y="40416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98A2B3"/>
                </a:solidFill>
              </a:rPr>
              <a:t>SCREENSHOT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4581144" y="4800600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111827"/>
                </a:solidFill>
              </a:rPr>
              <a:t>5. Open finding evidence</a:t>
            </a:r>
            <a:endParaRPr lang="en-US" sz="1250"/>
          </a:p>
        </p:txBody>
      </p:sp>
      <p:sp>
        <p:nvSpPr>
          <p:cNvPr id="19" name="Shape 17"/>
          <p:cNvSpPr/>
          <p:nvPr/>
        </p:nvSpPr>
        <p:spPr>
          <a:xfrm>
            <a:off x="8238744" y="3566160"/>
            <a:ext cx="3474720" cy="1691640"/>
          </a:xfrm>
          <a:prstGeom prst="roundRect">
            <a:avLst>
              <a:gd name="adj" fmla="val 3243"/>
            </a:avLst>
          </a:prstGeom>
          <a:solidFill>
            <a:srgbClr val="F4F7FB"/>
          </a:solidFill>
          <a:ln w="15240">
            <a:solidFill>
              <a:srgbClr val="B8CA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07424" y="40416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98A2B3"/>
                </a:solidFill>
              </a:rPr>
              <a:t>SCREENSHOT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8403336" y="4800600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111827"/>
                </a:solidFill>
              </a:rPr>
              <a:t>6. Export report</a:t>
            </a:r>
            <a:endParaRPr lang="en-US" sz="12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75488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the verification results tell the reviewer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493776" y="859536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67085"/>
                </a:solidFill>
              </a:rPr>
              <a:t>Every check should translate into a concrete decision, not just “pass” or “fail”.</a:t>
            </a:r>
            <a:endParaRPr lang="en-US" sz="125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10972800" cy="502920"/>
          </a:xfrm>
          <a:prstGeom prst="rect">
            <a:avLst/>
          </a:prstGeom>
          <a:solidFill>
            <a:srgbClr val="4E84C4"/>
          </a:solidFill>
          <a:ln w="12700">
            <a:solidFill>
              <a:srgbClr val="4E8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Lean / solver outcome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3794760" y="143560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Meaning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7589520" y="143560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</a:rPr>
              <a:t>Reviewer action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594360" y="1783080"/>
            <a:ext cx="10972800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DCE5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751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11827"/>
                </a:solidFill>
              </a:rPr>
              <a:t>Conflict proved</a:t>
            </a:r>
            <a:endParaRPr lang="en-US" sz="1150"/>
          </a:p>
        </p:txBody>
      </p:sp>
      <p:sp>
        <p:nvSpPr>
          <p:cNvPr id="10" name="Text 8"/>
          <p:cNvSpPr/>
          <p:nvPr/>
        </p:nvSpPr>
        <p:spPr>
          <a:xfrm>
            <a:off x="3794760" y="1929384"/>
            <a:ext cx="34747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>
                <a:solidFill>
                  <a:srgbClr val="667085"/>
                </a:solidFill>
              </a:rPr>
              <a:t>Requirements cannot hold together</a:t>
            </a:r>
            <a:endParaRPr lang="en-US" sz="1120"/>
          </a:p>
        </p:txBody>
      </p:sp>
      <p:sp>
        <p:nvSpPr>
          <p:cNvPr id="11" name="Text 9"/>
          <p:cNvSpPr/>
          <p:nvPr/>
        </p:nvSpPr>
        <p:spPr>
          <a:xfrm>
            <a:off x="7589520" y="1929384"/>
            <a:ext cx="35204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>
                <a:solidFill>
                  <a:srgbClr val="4E84C4"/>
                </a:solidFill>
              </a:rPr>
              <a:t>Revise one or add priority / scope</a:t>
            </a:r>
            <a:endParaRPr lang="en-US" sz="1120"/>
          </a:p>
        </p:txBody>
      </p:sp>
      <p:sp>
        <p:nvSpPr>
          <p:cNvPr id="12" name="Shape 10"/>
          <p:cNvSpPr/>
          <p:nvPr/>
        </p:nvSpPr>
        <p:spPr>
          <a:xfrm>
            <a:off x="594360" y="2468880"/>
            <a:ext cx="10972800" cy="685800"/>
          </a:xfrm>
          <a:prstGeom prst="rect">
            <a:avLst/>
          </a:prstGeom>
          <a:solidFill>
            <a:srgbClr val="F8FAFC"/>
          </a:solidFill>
          <a:ln w="7620">
            <a:solidFill>
              <a:srgbClr val="DCE5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6609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11827"/>
                </a:solidFill>
              </a:rPr>
              <a:t>Satisfying witness found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3794760" y="2615184"/>
            <a:ext cx="34747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>
                <a:solidFill>
                  <a:srgbClr val="667085"/>
                </a:solidFill>
              </a:rPr>
              <a:t>At least one model satisfies the selected set</a:t>
            </a:r>
            <a:endParaRPr lang="en-US" sz="1120"/>
          </a:p>
        </p:txBody>
      </p:sp>
      <p:sp>
        <p:nvSpPr>
          <p:cNvPr id="15" name="Text 13"/>
          <p:cNvSpPr/>
          <p:nvPr/>
        </p:nvSpPr>
        <p:spPr>
          <a:xfrm>
            <a:off x="7589520" y="2615184"/>
            <a:ext cx="35204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>
                <a:solidFill>
                  <a:srgbClr val="4E84C4"/>
                </a:solidFill>
              </a:rPr>
              <a:t>Keep witness as evidence</a:t>
            </a:r>
            <a:endParaRPr lang="en-US" sz="1120"/>
          </a:p>
        </p:txBody>
      </p:sp>
      <p:sp>
        <p:nvSpPr>
          <p:cNvPr id="16" name="Shape 14"/>
          <p:cNvSpPr/>
          <p:nvPr/>
        </p:nvSpPr>
        <p:spPr>
          <a:xfrm>
            <a:off x="594360" y="3154680"/>
            <a:ext cx="10972800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DCE5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3467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11827"/>
                </a:solidFill>
              </a:rPr>
              <a:t>Vacuity proved</a:t>
            </a:r>
            <a:endParaRPr lang="en-US" sz="1150"/>
          </a:p>
        </p:txBody>
      </p:sp>
      <p:sp>
        <p:nvSpPr>
          <p:cNvPr id="18" name="Text 16"/>
          <p:cNvSpPr/>
          <p:nvPr/>
        </p:nvSpPr>
        <p:spPr>
          <a:xfrm>
            <a:off x="3794760" y="3300984"/>
            <a:ext cx="34747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>
                <a:solidFill>
                  <a:srgbClr val="667085"/>
                </a:solidFill>
              </a:rPr>
              <a:t>A rule’s trigger is unreachable</a:t>
            </a:r>
            <a:endParaRPr lang="en-US" sz="1120"/>
          </a:p>
        </p:txBody>
      </p:sp>
      <p:sp>
        <p:nvSpPr>
          <p:cNvPr id="19" name="Text 17"/>
          <p:cNvSpPr/>
          <p:nvPr/>
        </p:nvSpPr>
        <p:spPr>
          <a:xfrm>
            <a:off x="7589520" y="3300984"/>
            <a:ext cx="35204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>
                <a:solidFill>
                  <a:srgbClr val="4E84C4"/>
                </a:solidFill>
              </a:rPr>
              <a:t>Remove or repair dead rule</a:t>
            </a:r>
            <a:endParaRPr lang="en-US" sz="1120"/>
          </a:p>
        </p:txBody>
      </p:sp>
      <p:sp>
        <p:nvSpPr>
          <p:cNvPr id="20" name="Shape 18"/>
          <p:cNvSpPr/>
          <p:nvPr/>
        </p:nvSpPr>
        <p:spPr>
          <a:xfrm>
            <a:off x="594360" y="3840480"/>
            <a:ext cx="10972800" cy="685800"/>
          </a:xfrm>
          <a:prstGeom prst="rect">
            <a:avLst/>
          </a:prstGeom>
          <a:solidFill>
            <a:srgbClr val="F8FAFC"/>
          </a:solidFill>
          <a:ln w="7620">
            <a:solidFill>
              <a:srgbClr val="DCE5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0325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11827"/>
                </a:solidFill>
              </a:rPr>
              <a:t>Coverage witness found</a:t>
            </a:r>
            <a:endParaRPr lang="en-US" sz="1150"/>
          </a:p>
        </p:txBody>
      </p:sp>
      <p:sp>
        <p:nvSpPr>
          <p:cNvPr id="22" name="Text 20"/>
          <p:cNvSpPr/>
          <p:nvPr/>
        </p:nvSpPr>
        <p:spPr>
          <a:xfrm>
            <a:off x="3794760" y="3986784"/>
            <a:ext cx="34747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>
                <a:solidFill>
                  <a:srgbClr val="667085"/>
                </a:solidFill>
              </a:rPr>
              <a:t>An input or state is unhandled</a:t>
            </a:r>
            <a:endParaRPr lang="en-US" sz="1120"/>
          </a:p>
        </p:txBody>
      </p:sp>
      <p:sp>
        <p:nvSpPr>
          <p:cNvPr id="23" name="Text 21"/>
          <p:cNvSpPr/>
          <p:nvPr/>
        </p:nvSpPr>
        <p:spPr>
          <a:xfrm>
            <a:off x="7589520" y="3986784"/>
            <a:ext cx="35204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>
                <a:solidFill>
                  <a:srgbClr val="4E84C4"/>
                </a:solidFill>
              </a:rPr>
              <a:t>Add missing behavior</a:t>
            </a:r>
            <a:endParaRPr lang="en-US" sz="1120"/>
          </a:p>
        </p:txBody>
      </p:sp>
      <p:sp>
        <p:nvSpPr>
          <p:cNvPr id="24" name="Shape 22"/>
          <p:cNvSpPr/>
          <p:nvPr/>
        </p:nvSpPr>
        <p:spPr>
          <a:xfrm>
            <a:off x="594360" y="4526280"/>
            <a:ext cx="10972800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DCE5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7183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11827"/>
                </a:solidFill>
              </a:rPr>
              <a:t>Cycle / deadlock found</a:t>
            </a:r>
            <a:endParaRPr lang="en-US" sz="1150"/>
          </a:p>
        </p:txBody>
      </p:sp>
      <p:sp>
        <p:nvSpPr>
          <p:cNvPr id="26" name="Text 24"/>
          <p:cNvSpPr/>
          <p:nvPr/>
        </p:nvSpPr>
        <p:spPr>
          <a:xfrm>
            <a:off x="3794760" y="4672584"/>
            <a:ext cx="34747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>
                <a:solidFill>
                  <a:srgbClr val="667085"/>
                </a:solidFill>
              </a:rPr>
              <a:t>System can enter a non-progressing loop or state</a:t>
            </a:r>
            <a:endParaRPr lang="en-US" sz="1120"/>
          </a:p>
        </p:txBody>
      </p:sp>
      <p:sp>
        <p:nvSpPr>
          <p:cNvPr id="27" name="Text 25"/>
          <p:cNvSpPr/>
          <p:nvPr/>
        </p:nvSpPr>
        <p:spPr>
          <a:xfrm>
            <a:off x="7589520" y="4672584"/>
            <a:ext cx="35204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>
                <a:solidFill>
                  <a:srgbClr val="4E84C4"/>
                </a:solidFill>
              </a:rPr>
              <a:t>Change ordering or recovery rules</a:t>
            </a:r>
            <a:endParaRPr lang="en-US" sz="1120"/>
          </a:p>
        </p:txBody>
      </p:sp>
      <p:sp>
        <p:nvSpPr>
          <p:cNvPr id="28" name="Shape 26"/>
          <p:cNvSpPr/>
          <p:nvPr/>
        </p:nvSpPr>
        <p:spPr>
          <a:xfrm>
            <a:off x="594360" y="5212080"/>
            <a:ext cx="10972800" cy="685800"/>
          </a:xfrm>
          <a:prstGeom prst="rect">
            <a:avLst/>
          </a:prstGeom>
          <a:solidFill>
            <a:srgbClr val="F8FAFC"/>
          </a:solidFill>
          <a:ln w="7620">
            <a:solidFill>
              <a:srgbClr val="DCE5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4041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E8871E"/>
                </a:solidFill>
              </a:rPr>
              <a:t>Proof not established</a:t>
            </a:r>
            <a:endParaRPr lang="en-US" sz="1150"/>
          </a:p>
        </p:txBody>
      </p:sp>
      <p:sp>
        <p:nvSpPr>
          <p:cNvPr id="30" name="Text 28"/>
          <p:cNvSpPr/>
          <p:nvPr/>
        </p:nvSpPr>
        <p:spPr>
          <a:xfrm>
            <a:off x="3794760" y="5358384"/>
            <a:ext cx="34747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>
                <a:solidFill>
                  <a:srgbClr val="667085"/>
                </a:solidFill>
              </a:rPr>
              <a:t>Insufficient facts, wrong mapping or property may not hold</a:t>
            </a:r>
            <a:endParaRPr lang="en-US" sz="1120"/>
          </a:p>
        </p:txBody>
      </p:sp>
      <p:sp>
        <p:nvSpPr>
          <p:cNvPr id="31" name="Text 29"/>
          <p:cNvSpPr/>
          <p:nvPr/>
        </p:nvSpPr>
        <p:spPr>
          <a:xfrm>
            <a:off x="7589520" y="5358384"/>
            <a:ext cx="35204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>
                <a:solidFill>
                  <a:srgbClr val="4E84C4"/>
                </a:solidFill>
              </a:rPr>
              <a:t>Return to extraction and inspect premises</a:t>
            </a:r>
            <a:endParaRPr lang="en-US" sz="112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75488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118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Future direction: formal verification as a trust layer for LLM systems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493776" y="859536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67085"/>
                </a:solidFill>
              </a:rPr>
              <a:t>The same pattern can validate generated reasoning, decisions and transformations beyond SDLC documents.</a:t>
            </a:r>
            <a:endParaRPr lang="en-US" sz="1250"/>
          </a:p>
        </p:txBody>
      </p:sp>
      <p:pic>
        <p:nvPicPr>
          <p:cNvPr id="4" name="Image 0" descr="/mnt/data/ad9d1e64a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69720"/>
            <a:ext cx="6126480" cy="4084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66560" y="1261872"/>
            <a:ext cx="48463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5DFEA"/>
            </a:solidFill>
            <a:prstDash val="solid"/>
          </a:ln>
          <a:effectLst/>
        </p:spPr>
      </p:sp>
      <p:sp>
        <p:nvSpPr>
          <p:cNvPr id="6" name="Shape 3"/>
          <p:cNvSpPr/>
          <p:nvPr/>
        </p:nvSpPr>
        <p:spPr>
          <a:xfrm>
            <a:off x="6766560" y="1261872"/>
            <a:ext cx="73152" cy="749808"/>
          </a:xfrm>
          <a:prstGeom prst="rect">
            <a:avLst/>
          </a:prstGeom>
          <a:solidFill>
            <a:srgbClr val="FBB034"/>
          </a:solidFill>
          <a:ln w="12700">
            <a:solidFill>
              <a:srgbClr val="FBB03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95160" y="1426464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11827"/>
                </a:solidFill>
              </a:rPr>
              <a:t>LLM output verification</a:t>
            </a:r>
            <a:endParaRPr lang="en-US" sz="1500"/>
          </a:p>
        </p:txBody>
      </p:sp>
      <p:sp>
        <p:nvSpPr>
          <p:cNvPr id="8" name="Text 5"/>
          <p:cNvSpPr/>
          <p:nvPr/>
        </p:nvSpPr>
        <p:spPr>
          <a:xfrm>
            <a:off x="6995160" y="1792224"/>
            <a:ext cx="4462272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Convert critical claims into formal obligations before acceptance.</a:t>
            </a:r>
            <a:endParaRPr lang="en-US" sz="1150"/>
          </a:p>
        </p:txBody>
      </p:sp>
      <p:sp>
        <p:nvSpPr>
          <p:cNvPr id="9" name="Shape 6"/>
          <p:cNvSpPr/>
          <p:nvPr/>
        </p:nvSpPr>
        <p:spPr>
          <a:xfrm>
            <a:off x="6766560" y="2176272"/>
            <a:ext cx="48463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5DFEA"/>
            </a:solidFill>
            <a:prstDash val="solid"/>
          </a:ln>
          <a:effectLst/>
        </p:spPr>
      </p:sp>
      <p:sp>
        <p:nvSpPr>
          <p:cNvPr id="10" name="Shape 7"/>
          <p:cNvSpPr/>
          <p:nvPr/>
        </p:nvSpPr>
        <p:spPr>
          <a:xfrm>
            <a:off x="6766560" y="2176272"/>
            <a:ext cx="73152" cy="749808"/>
          </a:xfrm>
          <a:prstGeom prst="rect">
            <a:avLst/>
          </a:prstGeom>
          <a:solidFill>
            <a:srgbClr val="4E84C4"/>
          </a:solidFill>
          <a:ln w="12700">
            <a:solidFill>
              <a:srgbClr val="4E84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95160" y="2340864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11827"/>
                </a:solidFill>
              </a:rPr>
              <a:t>Reasoning consistency</a:t>
            </a:r>
            <a:endParaRPr lang="en-US" sz="1500"/>
          </a:p>
        </p:txBody>
      </p:sp>
      <p:sp>
        <p:nvSpPr>
          <p:cNvPr id="12" name="Text 9"/>
          <p:cNvSpPr/>
          <p:nvPr/>
        </p:nvSpPr>
        <p:spPr>
          <a:xfrm>
            <a:off x="6995160" y="2706624"/>
            <a:ext cx="4462272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Check whether conclusions logically follow from extracted premises.</a:t>
            </a:r>
            <a:endParaRPr lang="en-US" sz="1150"/>
          </a:p>
        </p:txBody>
      </p:sp>
      <p:sp>
        <p:nvSpPr>
          <p:cNvPr id="13" name="Shape 10"/>
          <p:cNvSpPr/>
          <p:nvPr/>
        </p:nvSpPr>
        <p:spPr>
          <a:xfrm>
            <a:off x="6766560" y="3090672"/>
            <a:ext cx="48463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5DFEA"/>
            </a:solidFill>
            <a:prstDash val="solid"/>
          </a:ln>
          <a:effectLst/>
        </p:spPr>
      </p:sp>
      <p:sp>
        <p:nvSpPr>
          <p:cNvPr id="14" name="Shape 11"/>
          <p:cNvSpPr/>
          <p:nvPr/>
        </p:nvSpPr>
        <p:spPr>
          <a:xfrm>
            <a:off x="6766560" y="3090672"/>
            <a:ext cx="73152" cy="749808"/>
          </a:xfrm>
          <a:prstGeom prst="rect">
            <a:avLst/>
          </a:prstGeom>
          <a:solidFill>
            <a:srgbClr val="4E84C4"/>
          </a:solidFill>
          <a:ln w="12700">
            <a:solidFill>
              <a:srgbClr val="4E84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95160" y="3255264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11827"/>
                </a:solidFill>
              </a:rPr>
              <a:t>Agent guardrails</a:t>
            </a:r>
            <a:endParaRPr lang="en-US" sz="1500"/>
          </a:p>
        </p:txBody>
      </p:sp>
      <p:sp>
        <p:nvSpPr>
          <p:cNvPr id="16" name="Text 13"/>
          <p:cNvSpPr/>
          <p:nvPr/>
        </p:nvSpPr>
        <p:spPr>
          <a:xfrm>
            <a:off x="6995160" y="3621024"/>
            <a:ext cx="4462272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Verify plans against policies, permissions and resource limits.</a:t>
            </a:r>
            <a:endParaRPr lang="en-US" sz="1150"/>
          </a:p>
        </p:txBody>
      </p:sp>
      <p:sp>
        <p:nvSpPr>
          <p:cNvPr id="17" name="Shape 14"/>
          <p:cNvSpPr/>
          <p:nvPr/>
        </p:nvSpPr>
        <p:spPr>
          <a:xfrm>
            <a:off x="6766560" y="4005072"/>
            <a:ext cx="48463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5DFEA"/>
            </a:solidFill>
            <a:prstDash val="solid"/>
          </a:ln>
          <a:effectLst/>
        </p:spPr>
      </p:sp>
      <p:sp>
        <p:nvSpPr>
          <p:cNvPr id="18" name="Shape 15"/>
          <p:cNvSpPr/>
          <p:nvPr/>
        </p:nvSpPr>
        <p:spPr>
          <a:xfrm>
            <a:off x="6766560" y="4005072"/>
            <a:ext cx="73152" cy="749808"/>
          </a:xfrm>
          <a:prstGeom prst="rect">
            <a:avLst/>
          </a:prstGeom>
          <a:solidFill>
            <a:srgbClr val="4E84C4"/>
          </a:solidFill>
          <a:ln w="12700">
            <a:solidFill>
              <a:srgbClr val="4E84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95160" y="4169664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11827"/>
                </a:solidFill>
              </a:rPr>
              <a:t>Domain libraries</a:t>
            </a:r>
            <a:endParaRPr lang="en-US" sz="1500"/>
          </a:p>
        </p:txBody>
      </p:sp>
      <p:sp>
        <p:nvSpPr>
          <p:cNvPr id="20" name="Text 17"/>
          <p:cNvSpPr/>
          <p:nvPr/>
        </p:nvSpPr>
        <p:spPr>
          <a:xfrm>
            <a:off x="6995160" y="4535424"/>
            <a:ext cx="4462272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Add reusable theorem templates for finance, safety, operations and compliance.</a:t>
            </a:r>
            <a:endParaRPr lang="en-US" sz="1150"/>
          </a:p>
        </p:txBody>
      </p:sp>
      <p:sp>
        <p:nvSpPr>
          <p:cNvPr id="21" name="Shape 18"/>
          <p:cNvSpPr/>
          <p:nvPr/>
        </p:nvSpPr>
        <p:spPr>
          <a:xfrm>
            <a:off x="6766560" y="4919472"/>
            <a:ext cx="48463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5DFEA"/>
            </a:solidFill>
            <a:prstDash val="solid"/>
          </a:ln>
          <a:effectLst/>
        </p:spPr>
      </p:sp>
      <p:sp>
        <p:nvSpPr>
          <p:cNvPr id="22" name="Shape 19"/>
          <p:cNvSpPr/>
          <p:nvPr/>
        </p:nvSpPr>
        <p:spPr>
          <a:xfrm>
            <a:off x="6766560" y="4919472"/>
            <a:ext cx="73152" cy="749808"/>
          </a:xfrm>
          <a:prstGeom prst="rect">
            <a:avLst/>
          </a:prstGeom>
          <a:solidFill>
            <a:srgbClr val="4E84C4"/>
          </a:solidFill>
          <a:ln w="12700">
            <a:solidFill>
              <a:srgbClr val="4E84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95160" y="5084064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11827"/>
                </a:solidFill>
              </a:rPr>
              <a:t>Learning loop</a:t>
            </a:r>
            <a:endParaRPr lang="en-US" sz="1500"/>
          </a:p>
        </p:txBody>
      </p:sp>
      <p:sp>
        <p:nvSpPr>
          <p:cNvPr id="24" name="Text 21"/>
          <p:cNvSpPr/>
          <p:nvPr/>
        </p:nvSpPr>
        <p:spPr>
          <a:xfrm>
            <a:off x="6995160" y="5449824"/>
            <a:ext cx="4462272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solidFill>
                  <a:srgbClr val="667085"/>
                </a:solidFill>
              </a:rPr>
              <a:t>Use failed proofs to improve schemas, extraction prompts and test cases.</a:t>
            </a:r>
            <a:endParaRPr lang="en-US" sz="11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BB034"/>
          </a:solidFill>
          <a:ln w="12700">
            <a:solidFill>
              <a:srgbClr val="FBB0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14400"/>
            <a:ext cx="6400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</a:rPr>
              <a:t>Make requirements</a:t>
            </a:r>
            <a:endParaRPr lang="en-US" sz="3600"/>
          </a:p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</a:rPr>
              <a:t>provable before making</a:t>
            </a:r>
            <a:endParaRPr lang="en-US" sz="3600"/>
          </a:p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</a:rPr>
              <a:t>software executable.</a:t>
            </a:r>
            <a:endParaRPr lang="en-US" sz="3600"/>
          </a:p>
        </p:txBody>
      </p:sp>
      <p:sp>
        <p:nvSpPr>
          <p:cNvPr id="4" name="Text 2"/>
          <p:cNvSpPr/>
          <p:nvPr/>
        </p:nvSpPr>
        <p:spPr>
          <a:xfrm>
            <a:off x="749808" y="33375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D8E6F6"/>
                </a:solidFill>
              </a:rPr>
              <a:t>Clear intent. Structured formalization. Machine-checked evidence.</a:t>
            </a:r>
            <a:endParaRPr lang="en-US" sz="1800"/>
          </a:p>
        </p:txBody>
      </p:sp>
      <p:sp>
        <p:nvSpPr>
          <p:cNvPr id="5" name="Shape 3"/>
          <p:cNvSpPr/>
          <p:nvPr/>
        </p:nvSpPr>
        <p:spPr>
          <a:xfrm>
            <a:off x="749808" y="4160520"/>
            <a:ext cx="1188720" cy="1"/>
          </a:xfrm>
          <a:prstGeom prst="line">
            <a:avLst/>
          </a:prstGeom>
          <a:noFill/>
          <a:ln w="50800">
            <a:solidFill>
              <a:srgbClr val="FBB0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4434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BB034"/>
                </a:solidFill>
              </a:rPr>
              <a:t>Questions &amp; discussion</a:t>
            </a:r>
            <a:endParaRPr lang="en-US" sz="20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52760" y="6510528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 Ligh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 Ligh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15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Requirements to Verified Software</dc:title>
  <dc:subject>Formal verification of SDLC requirements using Lean and first-order logic</dc:subject>
  <dc:creator>Rohit Patil</dc:creator>
  <cp:revision>2</cp:revision>
  <dcterms:created xsi:type="dcterms:W3CDTF">2026-08-31T02:45:49Z</dcterms:created>
  <dcterms:modified xsi:type="dcterms:W3CDTF">2026-08-31T14:33:26Z</dcterms:modified>
</cp:coreProperties>
</file>